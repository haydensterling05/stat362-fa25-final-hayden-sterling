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74" r:id="rId5"/>
    <p:sldId id="272" r:id="rId6"/>
    <p:sldId id="273" r:id="rId7"/>
    <p:sldId id="259" r:id="rId8"/>
    <p:sldId id="260" r:id="rId9"/>
    <p:sldId id="261" r:id="rId10"/>
    <p:sldId id="262" r:id="rId11"/>
    <p:sldId id="275" r:id="rId12"/>
    <p:sldId id="276" r:id="rId13"/>
    <p:sldId id="263" r:id="rId14"/>
    <p:sldId id="264" r:id="rId15"/>
    <p:sldId id="269" r:id="rId16"/>
    <p:sldId id="267" r:id="rId17"/>
    <p:sldId id="265" r:id="rId18"/>
    <p:sldId id="266" r:id="rId19"/>
    <p:sldId id="26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24"/>
    <p:restoredTop sz="94710"/>
  </p:normalViewPr>
  <p:slideViewPr>
    <p:cSldViewPr snapToGrid="0" snapToObjects="1">
      <p:cViewPr varScale="1">
        <p:scale>
          <a:sx n="150" d="100"/>
          <a:sy n="150" d="100"/>
        </p:scale>
        <p:origin x="1144"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cjhutto/vaderSentiment"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05589"/>
            <a:ext cx="7772400" cy="1470025"/>
          </a:xfrm>
        </p:spPr>
        <p:txBody>
          <a:bodyPr>
            <a:normAutofit fontScale="90000"/>
          </a:bodyPr>
          <a:lstStyle/>
          <a:p>
            <a:r>
              <a:rPr lang="en-US" dirty="0">
                <a:latin typeface="Times New Roman" panose="02020603050405020304" pitchFamily="18" charset="0"/>
                <a:cs typeface="Times New Roman" panose="02020603050405020304" pitchFamily="18" charset="0"/>
              </a:rPr>
              <a:t>Predicting Market Sector ETF Prices with a Sequential Neural Network</a:t>
            </a:r>
            <a:endParaRPr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371600" y="3369339"/>
            <a:ext cx="6400800" cy="1752600"/>
          </a:xfrm>
        </p:spPr>
        <p:txBody>
          <a:bodyPr/>
          <a:lstStyle/>
          <a:p>
            <a:pPr algn="l"/>
            <a:r>
              <a:rPr lang="en-US" dirty="0">
                <a:latin typeface="Times New Roman" panose="02020603050405020304" pitchFamily="18" charset="0"/>
                <a:cs typeface="Times New Roman" panose="02020603050405020304" pitchFamily="18" charset="0"/>
              </a:rPr>
              <a:t>Hayden Sterling</a:t>
            </a:r>
          </a:p>
          <a:p>
            <a:pPr algn="l"/>
            <a:r>
              <a:rPr lang="en-US" dirty="0">
                <a:latin typeface="Times New Roman" panose="02020603050405020304" pitchFamily="18" charset="0"/>
                <a:cs typeface="Times New Roman" panose="02020603050405020304" pitchFamily="18" charset="0"/>
              </a:rPr>
              <a:t>Statistics 362</a:t>
            </a:r>
          </a:p>
          <a:p>
            <a:pPr algn="l"/>
            <a:r>
              <a:rPr lang="en-US" dirty="0">
                <a:latin typeface="Times New Roman" panose="02020603050405020304" pitchFamily="18" charset="0"/>
                <a:cs typeface="Times New Roman" panose="02020603050405020304" pitchFamily="18" charset="0"/>
              </a:rPr>
              <a:t>Fall 2025</a:t>
            </a:r>
          </a:p>
        </p:txBody>
      </p:sp>
      <p:pic>
        <p:nvPicPr>
          <p:cNvPr id="5" name="Picture 4" descr="A qr code on a white background&#10;&#10;AI-generated content may be incorrect.">
            <a:extLst>
              <a:ext uri="{FF2B5EF4-FFF2-40B4-BE49-F238E27FC236}">
                <a16:creationId xmlns:a16="http://schemas.microsoft.com/office/drawing/2014/main" id="{2DF6FDB7-6E89-729F-47E5-BE4905C89410}"/>
              </a:ext>
            </a:extLst>
          </p:cNvPr>
          <p:cNvPicPr>
            <a:picLocks noChangeAspect="1"/>
          </p:cNvPicPr>
          <p:nvPr/>
        </p:nvPicPr>
        <p:blipFill>
          <a:blip r:embed="rId2"/>
          <a:stretch>
            <a:fillRect/>
          </a:stretch>
        </p:blipFill>
        <p:spPr>
          <a:xfrm>
            <a:off x="5140841" y="2903205"/>
            <a:ext cx="2999711" cy="299971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Background</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0"/>
            <a:ext cx="8229600" cy="4983162"/>
          </a:xfrm>
        </p:spPr>
        <p:txBody>
          <a:bodyPr>
            <a:noAutofit/>
          </a:bodyPr>
          <a:lstStyle/>
          <a:p>
            <a:r>
              <a:rPr lang="en-US" sz="1800" b="1" dirty="0">
                <a:latin typeface="Times New Roman" panose="02020603050405020304" pitchFamily="18" charset="0"/>
                <a:cs typeface="Times New Roman" panose="02020603050405020304" pitchFamily="18" charset="0"/>
              </a:rPr>
              <a:t>Exchange-Traded Funds (ETFs) </a:t>
            </a:r>
            <a:r>
              <a:rPr lang="en-US" sz="1800" dirty="0">
                <a:latin typeface="Times New Roman" panose="02020603050405020304" pitchFamily="18" charset="0"/>
                <a:cs typeface="Times New Roman" panose="02020603050405020304" pitchFamily="18" charset="0"/>
              </a:rPr>
              <a:t>track the aggregated performance of an entire sector through a weighted average. </a:t>
            </a:r>
          </a:p>
          <a:p>
            <a:r>
              <a:rPr lang="en-US" sz="1800" u="sng" dirty="0">
                <a:latin typeface="Times New Roman" panose="02020603050405020304" pitchFamily="18" charset="0"/>
                <a:cs typeface="Times New Roman" panose="02020603050405020304" pitchFamily="18" charset="0"/>
              </a:rPr>
              <a:t>Two key considerations </a:t>
            </a:r>
            <a:r>
              <a:rPr lang="en-US" sz="1800" dirty="0">
                <a:latin typeface="Times New Roman" panose="02020603050405020304" pitchFamily="18" charset="0"/>
                <a:cs typeface="Times New Roman" panose="02020603050405020304" pitchFamily="18" charset="0"/>
              </a:rPr>
              <a:t>when analyzing market fluctuations: </a:t>
            </a:r>
          </a:p>
          <a:p>
            <a:pPr marL="457200" lvl="1" indent="0">
              <a:buNone/>
            </a:pPr>
            <a:r>
              <a:rPr lang="en-US" sz="1800" dirty="0">
                <a:latin typeface="Times New Roman" panose="02020603050405020304" pitchFamily="18" charset="0"/>
                <a:cs typeface="Times New Roman" panose="02020603050405020304" pitchFamily="18" charset="0"/>
              </a:rPr>
              <a:t>1. Sector performance is driven by a range of factors - prior price, investor sentiment, macroeconomic conditions, etc.</a:t>
            </a:r>
          </a:p>
          <a:p>
            <a:pPr marL="457200" lvl="1" indent="0">
              <a:buNone/>
            </a:pPr>
            <a:r>
              <a:rPr lang="en-US" sz="1800" dirty="0">
                <a:latin typeface="Times New Roman" panose="02020603050405020304" pitchFamily="18" charset="0"/>
                <a:cs typeface="Times New Roman" panose="02020603050405020304" pitchFamily="18" charset="0"/>
              </a:rPr>
              <a:t>2. Sectors do not move independently of one another (ex. the oil industry). </a:t>
            </a:r>
            <a:endParaRPr lang="en-US" sz="1800" b="1" dirty="0">
              <a:latin typeface="Times New Roman" panose="02020603050405020304" pitchFamily="18" charset="0"/>
              <a:cs typeface="Times New Roman" panose="02020603050405020304" pitchFamily="18" charset="0"/>
            </a:endParaRPr>
          </a:p>
          <a:p>
            <a:endParaRPr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66D592B-1B9F-82EA-5886-8B2C212A1BF8}"/>
              </a:ext>
            </a:extLst>
          </p:cNvPr>
          <p:cNvPicPr>
            <a:picLocks noChangeAspect="1"/>
          </p:cNvPicPr>
          <p:nvPr/>
        </p:nvPicPr>
        <p:blipFill>
          <a:blip r:embed="rId2"/>
          <a:stretch>
            <a:fillRect/>
          </a:stretch>
        </p:blipFill>
        <p:spPr>
          <a:xfrm>
            <a:off x="2541494" y="3752725"/>
            <a:ext cx="4061012" cy="2707341"/>
          </a:xfrm>
          <a:prstGeom prst="rect">
            <a:avLst/>
          </a:prstGeom>
        </p:spPr>
      </p:pic>
      <p:sp>
        <p:nvSpPr>
          <p:cNvPr id="5" name="TextBox 4">
            <a:extLst>
              <a:ext uri="{FF2B5EF4-FFF2-40B4-BE49-F238E27FC236}">
                <a16:creationId xmlns:a16="http://schemas.microsoft.com/office/drawing/2014/main" id="{8E8802DF-063E-1456-D51E-7D4540F230E9}"/>
              </a:ext>
            </a:extLst>
          </p:cNvPr>
          <p:cNvSpPr txBox="1"/>
          <p:nvPr/>
        </p:nvSpPr>
        <p:spPr>
          <a:xfrm>
            <a:off x="2541494" y="6460066"/>
            <a:ext cx="98910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(Chen)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5754-7EDD-A9D1-D220-93B5FA7D6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1925D-AE49-039A-48C0-F331AFA29E32}"/>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Technical Motivation</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A60F1F-F247-1F53-9ACE-1555E194A42B}"/>
              </a:ext>
            </a:extLst>
          </p:cNvPr>
          <p:cNvSpPr>
            <a:spLocks noGrp="1"/>
          </p:cNvSpPr>
          <p:nvPr>
            <p:ph idx="1"/>
          </p:nvPr>
        </p:nvSpPr>
        <p:spPr>
          <a:xfrm>
            <a:off x="457200" y="1196163"/>
            <a:ext cx="8389088" cy="1259958"/>
          </a:xfrm>
        </p:spPr>
        <p:txBody>
          <a:bodyPr>
            <a:normAutofit/>
          </a:bodyPr>
          <a:lstStyle/>
          <a:p>
            <a:r>
              <a:rPr lang="en-US" sz="1600" dirty="0">
                <a:latin typeface="Times New Roman" panose="02020603050405020304" pitchFamily="18" charset="0"/>
                <a:cs typeface="Times New Roman" panose="02020603050405020304" pitchFamily="18" charset="0"/>
              </a:rPr>
              <a:t>LSTM models have historically been successful in forecasting </a:t>
            </a:r>
            <a:r>
              <a:rPr lang="en-US" sz="1600" b="1" dirty="0">
                <a:latin typeface="Times New Roman" panose="02020603050405020304" pitchFamily="18" charset="0"/>
                <a:cs typeface="Times New Roman" panose="02020603050405020304" pitchFamily="18" charset="0"/>
              </a:rPr>
              <a:t>individual stock price </a:t>
            </a:r>
            <a:r>
              <a:rPr lang="en-US" sz="1600" dirty="0">
                <a:latin typeface="Times New Roman" panose="02020603050405020304" pitchFamily="18" charset="0"/>
                <a:cs typeface="Times New Roman" panose="02020603050405020304" pitchFamily="18" charset="0"/>
              </a:rPr>
              <a:t>(Li).</a:t>
            </a:r>
          </a:p>
          <a:p>
            <a:r>
              <a:rPr lang="en-US" sz="1600" dirty="0">
                <a:latin typeface="Times New Roman" panose="02020603050405020304" pitchFamily="18" charset="0"/>
                <a:cs typeface="Times New Roman" panose="02020603050405020304" pitchFamily="18" charset="0"/>
              </a:rPr>
              <a:t>Although predicting future prices (as opposed to returns) has limited value in trading stocks, it instead helps answer analytical questions such as: does previous market information have predictive power over future prices?</a:t>
            </a:r>
          </a:p>
          <a:p>
            <a:pPr marL="457200" lvl="1" indent="0">
              <a:buNone/>
            </a:pPr>
            <a:endParaRPr lang="en-US" sz="1600" b="1" dirty="0">
              <a:latin typeface="Times New Roman" panose="02020603050405020304" pitchFamily="18" charset="0"/>
              <a:cs typeface="Times New Roman" panose="02020603050405020304" pitchFamily="18" charset="0"/>
            </a:endParaRPr>
          </a:p>
          <a:p>
            <a:endParaRPr sz="1600" dirty="0">
              <a:latin typeface="Times New Roman" panose="02020603050405020304" pitchFamily="18" charset="0"/>
              <a:cs typeface="Times New Roman" panose="02020603050405020304" pitchFamily="18" charset="0"/>
            </a:endParaRPr>
          </a:p>
        </p:txBody>
      </p:sp>
      <p:pic>
        <p:nvPicPr>
          <p:cNvPr id="7" name="Picture 6" descr="A graph of a graph showing different colored lines&#10;&#10;AI-generated content may be incorrect.">
            <a:extLst>
              <a:ext uri="{FF2B5EF4-FFF2-40B4-BE49-F238E27FC236}">
                <a16:creationId xmlns:a16="http://schemas.microsoft.com/office/drawing/2014/main" id="{63994A45-0781-60BE-6D2A-CED4B33DBC86}"/>
              </a:ext>
            </a:extLst>
          </p:cNvPr>
          <p:cNvPicPr>
            <a:picLocks noChangeAspect="1"/>
          </p:cNvPicPr>
          <p:nvPr/>
        </p:nvPicPr>
        <p:blipFill>
          <a:blip r:embed="rId2"/>
          <a:stretch>
            <a:fillRect/>
          </a:stretch>
        </p:blipFill>
        <p:spPr>
          <a:xfrm>
            <a:off x="4651744" y="3101778"/>
            <a:ext cx="4306548" cy="2153274"/>
          </a:xfrm>
          <a:prstGeom prst="rect">
            <a:avLst/>
          </a:prstGeom>
        </p:spPr>
      </p:pic>
      <p:sp>
        <p:nvSpPr>
          <p:cNvPr id="8" name="TextBox 7">
            <a:extLst>
              <a:ext uri="{FF2B5EF4-FFF2-40B4-BE49-F238E27FC236}">
                <a16:creationId xmlns:a16="http://schemas.microsoft.com/office/drawing/2014/main" id="{4400C468-30C5-3B01-9738-043430191B0C}"/>
              </a:ext>
            </a:extLst>
          </p:cNvPr>
          <p:cNvSpPr txBox="1"/>
          <p:nvPr/>
        </p:nvSpPr>
        <p:spPr>
          <a:xfrm>
            <a:off x="457200" y="2417477"/>
            <a:ext cx="4401879" cy="3539430"/>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Main goal:</a:t>
            </a:r>
            <a:r>
              <a:rPr lang="en-US" sz="1600" dirty="0">
                <a:latin typeface="Times New Roman" panose="02020603050405020304" pitchFamily="18" charset="0"/>
                <a:cs typeface="Times New Roman" panose="02020603050405020304" pitchFamily="18" charset="0"/>
              </a:rPr>
              <a:t> This project investigates whether the task of forecasting an individual stock can be expanded to forecasting multiple markets through their sectors ETFs jointly in one, unified model.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Specifically, the model will account for the </a:t>
            </a:r>
            <a:r>
              <a:rPr lang="en-US" sz="1600" b="1" dirty="0">
                <a:latin typeface="Times New Roman" panose="02020603050405020304" pitchFamily="18" charset="0"/>
                <a:cs typeface="Times New Roman" panose="02020603050405020304" pitchFamily="18" charset="0"/>
              </a:rPr>
              <a:t>interdependency of markets</a:t>
            </a:r>
            <a:r>
              <a:rPr lang="en-US" sz="1600" dirty="0">
                <a:latin typeface="Times New Roman" panose="02020603050405020304" pitchFamily="18" charset="0"/>
                <a:cs typeface="Times New Roman" panose="02020603050405020304" pitchFamily="18" charset="0"/>
              </a:rPr>
              <a:t> through shared multivariate impacts - each sector’s features (prices, volumes, etc.) can influence the predictions of another sector. </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This is a </a:t>
            </a:r>
            <a:r>
              <a:rPr lang="en-US" sz="1600" b="1" dirty="0">
                <a:latin typeface="Times New Roman" panose="02020603050405020304" pitchFamily="18" charset="0"/>
                <a:cs typeface="Times New Roman" panose="02020603050405020304" pitchFamily="18" charset="0"/>
              </a:rPr>
              <a:t>multivariate</a:t>
            </a: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regression problem </a:t>
            </a:r>
            <a:r>
              <a:rPr lang="en-US" sz="1600" dirty="0">
                <a:latin typeface="Times New Roman" panose="02020603050405020304" pitchFamily="18" charset="0"/>
                <a:cs typeface="Times New Roman" panose="02020603050405020304" pitchFamily="18" charset="0"/>
              </a:rPr>
              <a:t>attempting to predict a 9-dimensional vector, representing the next-day prices of nine sector ETFs. </a:t>
            </a:r>
          </a:p>
          <a:p>
            <a:endParaRPr lang="en-US" sz="1600" dirty="0"/>
          </a:p>
        </p:txBody>
      </p:sp>
    </p:spTree>
    <p:extLst>
      <p:ext uri="{BB962C8B-B14F-4D97-AF65-F5344CB8AC3E}">
        <p14:creationId xmlns:p14="http://schemas.microsoft.com/office/powerpoint/2010/main" val="240297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F5861-63A3-CE90-F711-95EDB6D24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D52EF-EE3A-17DF-F7C7-7E03CEAC91E8}"/>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Technical Motivation, cont.</a:t>
            </a:r>
          </a:p>
        </p:txBody>
      </p:sp>
      <p:sp>
        <p:nvSpPr>
          <p:cNvPr id="3" name="Content Placeholder 2">
            <a:extLst>
              <a:ext uri="{FF2B5EF4-FFF2-40B4-BE49-F238E27FC236}">
                <a16:creationId xmlns:a16="http://schemas.microsoft.com/office/drawing/2014/main" id="{E193F4A8-4EF6-7258-3B0E-F537F3BE37FF}"/>
              </a:ext>
            </a:extLst>
          </p:cNvPr>
          <p:cNvSpPr>
            <a:spLocks noGrp="1"/>
          </p:cNvSpPr>
          <p:nvPr>
            <p:ph idx="1"/>
          </p:nvPr>
        </p:nvSpPr>
        <p:spPr>
          <a:xfrm>
            <a:off x="457200" y="1600200"/>
            <a:ext cx="8229600" cy="197643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Additionally, to account for the wide range of factors influencing future stock prices, I include </a:t>
            </a:r>
            <a:r>
              <a:rPr lang="en-US" sz="1800" b="1" dirty="0">
                <a:latin typeface="Times New Roman" panose="02020603050405020304" pitchFamily="18" charset="0"/>
                <a:cs typeface="Times New Roman" panose="02020603050405020304" pitchFamily="18" charset="0"/>
              </a:rPr>
              <a:t>news sentiment data </a:t>
            </a:r>
            <a:r>
              <a:rPr lang="en-US" sz="1800" dirty="0">
                <a:latin typeface="Times New Roman" panose="02020603050405020304" pitchFamily="18" charset="0"/>
                <a:cs typeface="Times New Roman" panose="02020603050405020304" pitchFamily="18" charset="0"/>
              </a:rPr>
              <a:t>as part of the features to model how investor sentiment affects market prices.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secondary goal </a:t>
            </a:r>
            <a:r>
              <a:rPr lang="en-US" sz="1800" dirty="0">
                <a:latin typeface="Times New Roman" panose="02020603050405020304" pitchFamily="18" charset="0"/>
                <a:cs typeface="Times New Roman" panose="02020603050405020304" pitchFamily="18" charset="0"/>
              </a:rPr>
              <a:t>is thus to determine the effect (if any) that news sentiments exert on stock prices.</a:t>
            </a:r>
          </a:p>
          <a:p>
            <a:pPr marL="0" indent="0">
              <a:buNone/>
            </a:pPr>
            <a:endParaRPr lang="en-US" sz="1800" b="1"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D49DC26-6248-E667-95CB-8BE3121A5BBE}"/>
              </a:ext>
            </a:extLst>
          </p:cNvPr>
          <p:cNvPicPr>
            <a:picLocks noChangeAspect="1"/>
          </p:cNvPicPr>
          <p:nvPr/>
        </p:nvPicPr>
        <p:blipFill>
          <a:blip r:embed="rId2"/>
          <a:stretch>
            <a:fillRect/>
          </a:stretch>
        </p:blipFill>
        <p:spPr>
          <a:xfrm>
            <a:off x="1755258" y="3576638"/>
            <a:ext cx="5633483" cy="2816742"/>
          </a:xfrm>
          <a:prstGeom prst="rect">
            <a:avLst/>
          </a:prstGeom>
        </p:spPr>
      </p:pic>
    </p:spTree>
    <p:extLst>
      <p:ext uri="{BB962C8B-B14F-4D97-AF65-F5344CB8AC3E}">
        <p14:creationId xmlns:p14="http://schemas.microsoft.com/office/powerpoint/2010/main" val="4150741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E80D-F911-2A1A-7F1A-8C1BAC3B2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58F4F-8D1A-8118-7071-EE4FA9A3AF66}"/>
              </a:ext>
            </a:extLst>
          </p:cNvPr>
          <p:cNvSpPr>
            <a:spLocks noGrp="1"/>
          </p:cNvSpPr>
          <p:nvPr>
            <p:ph type="title"/>
          </p:nvPr>
        </p:nvSpPr>
        <p:spPr/>
        <p:txBody>
          <a:bodyPr/>
          <a:lstStyle/>
          <a:p>
            <a:pPr algn="l"/>
            <a:r>
              <a:rPr lang="en-US" dirty="0">
                <a:latin typeface="Times New Roman" panose="02020603050405020304" pitchFamily="18" charset="0"/>
                <a:cs typeface="Times New Roman" panose="02020603050405020304" pitchFamily="18" charset="0"/>
              </a:rPr>
              <a:t>Market Sector ETFs </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FB7516B-8161-8127-1144-06D5455A93C4}"/>
              </a:ext>
            </a:extLst>
          </p:cNvPr>
          <p:cNvSpPr>
            <a:spLocks noGrp="1"/>
          </p:cNvSpPr>
          <p:nvPr>
            <p:ph idx="1"/>
          </p:nvPr>
        </p:nvSpPr>
        <p:spPr>
          <a:xfrm>
            <a:off x="457200" y="1600200"/>
            <a:ext cx="8229600" cy="4983162"/>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The following ETFs were used for the model:</a:t>
            </a:r>
          </a:p>
          <a:p>
            <a:r>
              <a:rPr lang="en-US" sz="1800" dirty="0">
                <a:latin typeface="Times New Roman" panose="02020603050405020304" pitchFamily="18" charset="0"/>
                <a:cs typeface="Times New Roman" panose="02020603050405020304" pitchFamily="18" charset="0"/>
              </a:rPr>
              <a:t>XLK - Technology Select Sector SPDR Fund</a:t>
            </a:r>
          </a:p>
          <a:p>
            <a:r>
              <a:rPr lang="en-US" sz="1800" dirty="0">
                <a:latin typeface="Times New Roman" panose="02020603050405020304" pitchFamily="18" charset="0"/>
                <a:cs typeface="Times New Roman" panose="02020603050405020304" pitchFamily="18" charset="0"/>
              </a:rPr>
              <a:t>XLF - Financial Select Sector SPDR Fund</a:t>
            </a:r>
          </a:p>
          <a:p>
            <a:r>
              <a:rPr lang="en-US" sz="1800" dirty="0">
                <a:latin typeface="Times New Roman" panose="02020603050405020304" pitchFamily="18" charset="0"/>
                <a:cs typeface="Times New Roman" panose="02020603050405020304" pitchFamily="18" charset="0"/>
              </a:rPr>
              <a:t>XLE - Energy Select Sector SPDR Fund</a:t>
            </a:r>
          </a:p>
          <a:p>
            <a:r>
              <a:rPr lang="en-US" sz="1800" dirty="0">
                <a:latin typeface="Times New Roman" panose="02020603050405020304" pitchFamily="18" charset="0"/>
                <a:cs typeface="Times New Roman" panose="02020603050405020304" pitchFamily="18" charset="0"/>
              </a:rPr>
              <a:t>XLV - Health Care Select Sector SPDR Fund</a:t>
            </a:r>
          </a:p>
          <a:p>
            <a:r>
              <a:rPr lang="en-US" sz="1800" dirty="0">
                <a:latin typeface="Times New Roman" panose="02020603050405020304" pitchFamily="18" charset="0"/>
                <a:cs typeface="Times New Roman" panose="02020603050405020304" pitchFamily="18" charset="0"/>
              </a:rPr>
              <a:t>XLI - Industrial Select Sector SPDR Fund</a:t>
            </a:r>
          </a:p>
          <a:p>
            <a:r>
              <a:rPr lang="en-US" sz="1800" dirty="0">
                <a:latin typeface="Times New Roman" panose="02020603050405020304" pitchFamily="18" charset="0"/>
                <a:cs typeface="Times New Roman" panose="02020603050405020304" pitchFamily="18" charset="0"/>
              </a:rPr>
              <a:t>XLY - Consumer Discretionary Select Sector SPDR Fund (non-essential goods)</a:t>
            </a:r>
          </a:p>
          <a:p>
            <a:r>
              <a:rPr lang="en-US" sz="1800" dirty="0">
                <a:latin typeface="Times New Roman" panose="02020603050405020304" pitchFamily="18" charset="0"/>
                <a:cs typeface="Times New Roman" panose="02020603050405020304" pitchFamily="18" charset="0"/>
              </a:rPr>
              <a:t>XLP - Consumer Staples Select Sector SPDR Fund (essential goods)</a:t>
            </a:r>
          </a:p>
          <a:p>
            <a:r>
              <a:rPr lang="en-US" sz="1800" dirty="0">
                <a:latin typeface="Times New Roman" panose="02020603050405020304" pitchFamily="18" charset="0"/>
                <a:cs typeface="Times New Roman" panose="02020603050405020304" pitchFamily="18" charset="0"/>
              </a:rPr>
              <a:t>XLU - Utilities Select Sector SPDR Fund</a:t>
            </a:r>
          </a:p>
          <a:p>
            <a:r>
              <a:rPr lang="en-US" sz="1800" dirty="0">
                <a:latin typeface="Times New Roman" panose="02020603050405020304" pitchFamily="18" charset="0"/>
                <a:cs typeface="Times New Roman" panose="02020603050405020304" pitchFamily="18" charset="0"/>
              </a:rPr>
              <a:t>XLB - Materials Select Sector SPDR Fund </a:t>
            </a:r>
          </a:p>
          <a:p>
            <a:pPr lvl="1"/>
            <a:endParaRPr lang="en-US" sz="1400" dirty="0">
              <a:latin typeface="Times New Roman" panose="02020603050405020304" pitchFamily="18" charset="0"/>
              <a:cs typeface="Times New Roman" panose="02020603050405020304" pitchFamily="18" charset="0"/>
            </a:endParaRPr>
          </a:p>
          <a:p>
            <a:endParaRPr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948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6E4BC-08A0-425E-03CA-9E577EF5D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F0D7F-88A1-86F4-3CB7-9238D88F17E8}"/>
              </a:ext>
            </a:extLst>
          </p:cNvPr>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Dataset Overview</a:t>
            </a:r>
          </a:p>
        </p:txBody>
      </p:sp>
      <p:sp>
        <p:nvSpPr>
          <p:cNvPr id="3" name="Content Placeholder 2">
            <a:extLst>
              <a:ext uri="{FF2B5EF4-FFF2-40B4-BE49-F238E27FC236}">
                <a16:creationId xmlns:a16="http://schemas.microsoft.com/office/drawing/2014/main" id="{525F203A-2C9C-8CB4-DA84-ED3AF20A8F09}"/>
              </a:ext>
            </a:extLst>
          </p:cNvPr>
          <p:cNvSpPr>
            <a:spLocks noGrp="1"/>
          </p:cNvSpPr>
          <p:nvPr>
            <p:ph idx="1"/>
          </p:nvPr>
        </p:nvSpPr>
        <p:spPr>
          <a:xfrm>
            <a:off x="457200" y="1449187"/>
            <a:ext cx="8229600" cy="2773688"/>
          </a:xfrm>
        </p:spPr>
        <p:txBody>
          <a:bodyPr>
            <a:normAutofit fontScale="70000" lnSpcReduction="20000"/>
          </a:bodyPr>
          <a:lstStyle/>
          <a:p>
            <a:pPr marL="0" indent="0">
              <a:buNone/>
            </a:pPr>
            <a:r>
              <a:rPr lang="en-US" sz="1800" b="1" dirty="0">
                <a:latin typeface="Times New Roman" panose="02020603050405020304" pitchFamily="18" charset="0"/>
                <a:cs typeface="Times New Roman" panose="02020603050405020304" pitchFamily="18" charset="0"/>
              </a:rPr>
              <a:t>Two datasets</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1. The yfinance package to extract financial data (“</a:t>
            </a:r>
            <a:r>
              <a:rPr lang="en-US" sz="1800" dirty="0" err="1">
                <a:latin typeface="Times New Roman" panose="02020603050405020304" pitchFamily="18" charset="0"/>
                <a:cs typeface="Times New Roman" panose="02020603050405020304" pitchFamily="18" charset="0"/>
              </a:rPr>
              <a:t>Yfinance</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2. Kaggle’s News Category Dataset for daily news headlines (Mirsa).</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Number of samples</a:t>
            </a:r>
            <a:r>
              <a:rPr lang="en-US" sz="1800" dirty="0">
                <a:latin typeface="Times New Roman" panose="02020603050405020304" pitchFamily="18" charset="0"/>
                <a:cs typeface="Times New Roman" panose="02020603050405020304" pitchFamily="18" charset="0"/>
              </a:rPr>
              <a:t>: 2,680 trading days from 1/30/2012 to 9/21/2022.</a:t>
            </a:r>
          </a:p>
          <a:p>
            <a:pPr marL="0" indent="0">
              <a:buNone/>
            </a:pPr>
            <a:r>
              <a:rPr lang="en-US" sz="1800" b="1" dirty="0">
                <a:latin typeface="Times New Roman" panose="02020603050405020304" pitchFamily="18" charset="0"/>
                <a:cs typeface="Times New Roman" panose="02020603050405020304" pitchFamily="18" charset="0"/>
              </a:rPr>
              <a:t>Input features: </a:t>
            </a:r>
            <a:r>
              <a:rPr lang="en-US" sz="1800" dirty="0">
                <a:latin typeface="Times New Roman" panose="02020603050405020304" pitchFamily="18" charset="0"/>
                <a:cs typeface="Times New Roman" panose="02020603050405020304" pitchFamily="18" charset="0"/>
              </a:rPr>
              <a:t>time sequences of features from </a:t>
            </a:r>
            <a:r>
              <a:rPr lang="en-US" sz="1800" u="sng" dirty="0">
                <a:latin typeface="Times New Roman" panose="02020603050405020304" pitchFamily="18" charset="0"/>
                <a:cs typeface="Times New Roman" panose="02020603050405020304" pitchFamily="18" charset="0"/>
              </a:rPr>
              <a:t>60 previous days.</a:t>
            </a:r>
            <a:endParaRPr lang="en-US" sz="1800" b="1" u="sng" dirty="0">
              <a:latin typeface="Times New Roman" panose="02020603050405020304" pitchFamily="18" charset="0"/>
              <a:cs typeface="Times New Roman" panose="02020603050405020304" pitchFamily="18" charset="0"/>
            </a:endParaRPr>
          </a:p>
          <a:p>
            <a:pPr lvl="1">
              <a:buFont typeface="Wingdings" pitchFamily="2" charset="2"/>
              <a:buChar char="Ø"/>
            </a:pPr>
            <a:r>
              <a:rPr lang="en-US" sz="1400" dirty="0">
                <a:latin typeface="Times New Roman" panose="02020603050405020304" pitchFamily="18" charset="0"/>
                <a:cs typeface="Times New Roman" panose="02020603050405020304" pitchFamily="18" charset="0"/>
              </a:rPr>
              <a:t>Prices (close, high, low, open) and volumes for all 9 ETFs. </a:t>
            </a:r>
          </a:p>
          <a:p>
            <a:pPr lvl="1">
              <a:buFont typeface="Wingdings" pitchFamily="2" charset="2"/>
              <a:buChar char="Ø"/>
            </a:pPr>
            <a:r>
              <a:rPr lang="en-US" sz="1400" dirty="0">
                <a:latin typeface="Times New Roman" panose="02020603050405020304" pitchFamily="18" charset="0"/>
                <a:cs typeface="Times New Roman" panose="02020603050405020304" pitchFamily="18" charset="0"/>
              </a:rPr>
              <a:t>Sentiment scores - daily mean, daily standard deviations, and number of daily news headlines. These were extracted using the VADER pretrained sentiment analysis model: </a:t>
            </a:r>
            <a:r>
              <a:rPr lang="en-US" sz="1400" dirty="0">
                <a:latin typeface="Times New Roman" panose="02020603050405020304" pitchFamily="18" charset="0"/>
                <a:cs typeface="Times New Roman" panose="02020603050405020304" pitchFamily="18" charset="0"/>
                <a:hlinkClick r:id="rId2"/>
              </a:rPr>
              <a:t>VADER: SentimentIntensityAnalyzer</a:t>
            </a:r>
            <a:r>
              <a:rPr lang="en-US" sz="1400" dirty="0">
                <a:latin typeface="Times New Roman" panose="02020603050405020304" pitchFamily="18" charset="0"/>
                <a:cs typeface="Times New Roman" panose="02020603050405020304" pitchFamily="18" charset="0"/>
              </a:rPr>
              <a:t>. </a:t>
            </a:r>
          </a:p>
          <a:p>
            <a:pPr marL="0" indent="0">
              <a:buNone/>
            </a:pPr>
            <a:r>
              <a:rPr lang="en-US" sz="1800" b="1" dirty="0">
                <a:latin typeface="Times New Roman" panose="02020603050405020304" pitchFamily="18" charset="0"/>
                <a:cs typeface="Times New Roman" panose="02020603050405020304" pitchFamily="18" charset="0"/>
              </a:rPr>
              <a:t>Target Variable</a:t>
            </a:r>
            <a:r>
              <a:rPr lang="en-US" sz="1800" dirty="0">
                <a:latin typeface="Times New Roman" panose="02020603050405020304" pitchFamily="18" charset="0"/>
                <a:cs typeface="Times New Roman" panose="02020603050405020304" pitchFamily="18" charset="0"/>
              </a:rPr>
              <a:t>: 9 close prices from the 9 ETFs on the </a:t>
            </a:r>
            <a:r>
              <a:rPr lang="en-US" sz="1800" u="sng" dirty="0">
                <a:latin typeface="Times New Roman" panose="02020603050405020304" pitchFamily="18" charset="0"/>
                <a:cs typeface="Times New Roman" panose="02020603050405020304" pitchFamily="18" charset="0"/>
              </a:rPr>
              <a:t>next day</a:t>
            </a:r>
            <a:r>
              <a:rPr lang="en-US" sz="1800" dirty="0">
                <a:latin typeface="Times New Roman" panose="02020603050405020304" pitchFamily="18" charset="0"/>
                <a:cs typeface="Times New Roman" panose="02020603050405020304" pitchFamily="18" charset="0"/>
              </a:rPr>
              <a:t> .</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Preprocessing Steps: </a:t>
            </a:r>
          </a:p>
          <a:p>
            <a:pPr lvl="1"/>
            <a:r>
              <a:rPr lang="en-US" sz="1400" dirty="0">
                <a:latin typeface="Times New Roman" panose="02020603050405020304" pitchFamily="18" charset="0"/>
                <a:cs typeface="Times New Roman" panose="02020603050405020304" pitchFamily="18" charset="0"/>
              </a:rPr>
              <a:t>Aggregating news headlines by day and using VADER to extract the daily polarity scores.</a:t>
            </a:r>
          </a:p>
          <a:p>
            <a:pPr lvl="1"/>
            <a:r>
              <a:rPr lang="en-US" sz="1400" dirty="0">
                <a:latin typeface="Times New Roman" panose="02020603050405020304" pitchFamily="18" charset="0"/>
                <a:cs typeface="Times New Roman" panose="02020603050405020304" pitchFamily="18" charset="0"/>
              </a:rPr>
              <a:t>Standardization of target (using rolling statistics) and features (using per window statistics).</a:t>
            </a:r>
          </a:p>
          <a:p>
            <a:pPr lvl="1"/>
            <a:r>
              <a:rPr lang="en-US" sz="1400" dirty="0">
                <a:latin typeface="Times New Roman" panose="02020603050405020304" pitchFamily="18" charset="0"/>
                <a:cs typeface="Times New Roman" panose="02020603050405020304" pitchFamily="18" charset="0"/>
              </a:rPr>
              <a:t>Creation of data sequences, using a specified look-back period (60 days by default)</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03DDD24-04C8-48B3-75D6-D3973C10EA3F}"/>
              </a:ext>
            </a:extLst>
          </p:cNvPr>
          <p:cNvSpPr/>
          <p:nvPr/>
        </p:nvSpPr>
        <p:spPr>
          <a:xfrm>
            <a:off x="347923" y="4357594"/>
            <a:ext cx="897466" cy="332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Prices </a:t>
            </a:r>
          </a:p>
        </p:txBody>
      </p:sp>
      <p:sp>
        <p:nvSpPr>
          <p:cNvPr id="5" name="Rectangle 4">
            <a:extLst>
              <a:ext uri="{FF2B5EF4-FFF2-40B4-BE49-F238E27FC236}">
                <a16:creationId xmlns:a16="http://schemas.microsoft.com/office/drawing/2014/main" id="{10BE56DA-339F-D57A-C47F-1EA7107B2EA8}"/>
              </a:ext>
            </a:extLst>
          </p:cNvPr>
          <p:cNvSpPr/>
          <p:nvPr/>
        </p:nvSpPr>
        <p:spPr>
          <a:xfrm>
            <a:off x="347135" y="4872737"/>
            <a:ext cx="897466" cy="332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Volumes</a:t>
            </a:r>
          </a:p>
        </p:txBody>
      </p:sp>
      <p:sp>
        <p:nvSpPr>
          <p:cNvPr id="6" name="Rectangle 5">
            <a:extLst>
              <a:ext uri="{FF2B5EF4-FFF2-40B4-BE49-F238E27FC236}">
                <a16:creationId xmlns:a16="http://schemas.microsoft.com/office/drawing/2014/main" id="{EE88431F-EF23-6A69-C9B6-CE1AACE7D07A}"/>
              </a:ext>
            </a:extLst>
          </p:cNvPr>
          <p:cNvSpPr/>
          <p:nvPr/>
        </p:nvSpPr>
        <p:spPr>
          <a:xfrm>
            <a:off x="347135" y="5387880"/>
            <a:ext cx="897466" cy="3325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News headlines</a:t>
            </a:r>
          </a:p>
        </p:txBody>
      </p:sp>
      <p:sp>
        <p:nvSpPr>
          <p:cNvPr id="7" name="Rounded Rectangle 6">
            <a:extLst>
              <a:ext uri="{FF2B5EF4-FFF2-40B4-BE49-F238E27FC236}">
                <a16:creationId xmlns:a16="http://schemas.microsoft.com/office/drawing/2014/main" id="{8A429A21-4B9A-AA70-4C0C-8BB619599620}"/>
              </a:ext>
            </a:extLst>
          </p:cNvPr>
          <p:cNvSpPr/>
          <p:nvPr/>
        </p:nvSpPr>
        <p:spPr>
          <a:xfrm>
            <a:off x="1490923" y="5286355"/>
            <a:ext cx="1430078" cy="53563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VADER Sentiment Intensity Analyzer</a:t>
            </a:r>
          </a:p>
        </p:txBody>
      </p:sp>
      <p:sp>
        <p:nvSpPr>
          <p:cNvPr id="8" name="TextBox 7">
            <a:extLst>
              <a:ext uri="{FF2B5EF4-FFF2-40B4-BE49-F238E27FC236}">
                <a16:creationId xmlns:a16="http://schemas.microsoft.com/office/drawing/2014/main" id="{ADB7E880-71DB-5561-EF5D-8AD339DB8F8D}"/>
              </a:ext>
            </a:extLst>
          </p:cNvPr>
          <p:cNvSpPr txBox="1"/>
          <p:nvPr/>
        </p:nvSpPr>
        <p:spPr>
          <a:xfrm>
            <a:off x="457200" y="5906544"/>
            <a:ext cx="7662334" cy="692497"/>
          </a:xfrm>
          <a:prstGeom prst="rect">
            <a:avLst/>
          </a:prstGeom>
          <a:noFill/>
        </p:spPr>
        <p:txBody>
          <a:bodyPr wrap="square" rtlCol="0">
            <a:spAutoFit/>
          </a:bodyPr>
          <a:lstStyle/>
          <a:p>
            <a:r>
              <a:rPr lang="en-US" sz="1300" b="1" dirty="0">
                <a:latin typeface="Times New Roman" panose="02020603050405020304" pitchFamily="18" charset="0"/>
                <a:cs typeface="Times New Roman" panose="02020603050405020304" pitchFamily="18" charset="0"/>
              </a:rPr>
              <a:t>Input </a:t>
            </a:r>
            <a:r>
              <a:rPr lang="en-US" sz="1300" dirty="0">
                <a:latin typeface="Times New Roman" panose="02020603050405020304" pitchFamily="18" charset="0"/>
                <a:cs typeface="Times New Roman" panose="02020603050405020304" pitchFamily="18" charset="0"/>
              </a:rPr>
              <a:t>(3-dimensional tensor): (# training examples, # days, # features) = (1815, 60, 48)</a:t>
            </a:r>
          </a:p>
          <a:p>
            <a:r>
              <a:rPr lang="en-US" sz="1300" b="1" dirty="0">
                <a:latin typeface="Times New Roman" panose="02020603050405020304" pitchFamily="18" charset="0"/>
                <a:cs typeface="Times New Roman" panose="02020603050405020304" pitchFamily="18" charset="0"/>
              </a:rPr>
              <a:t>Output </a:t>
            </a:r>
            <a:r>
              <a:rPr lang="en-US" sz="1300" dirty="0">
                <a:latin typeface="Times New Roman" panose="02020603050405020304" pitchFamily="18" charset="0"/>
                <a:cs typeface="Times New Roman" panose="02020603050405020304" pitchFamily="18" charset="0"/>
              </a:rPr>
              <a:t>(9-dimensional vector at each timestamp): (# training examples, # outputs) = (1815, 9)</a:t>
            </a:r>
            <a:endParaRPr lang="en-US" sz="1300" b="1" dirty="0">
              <a:latin typeface="Times New Roman" panose="02020603050405020304" pitchFamily="18" charset="0"/>
              <a:cs typeface="Times New Roman" panose="02020603050405020304" pitchFamily="18" charset="0"/>
            </a:endParaRPr>
          </a:p>
          <a:p>
            <a:endParaRPr lang="en-US" sz="1300" dirty="0"/>
          </a:p>
        </p:txBody>
      </p:sp>
      <p:cxnSp>
        <p:nvCxnSpPr>
          <p:cNvPr id="10" name="Straight Arrow Connector 9">
            <a:extLst>
              <a:ext uri="{FF2B5EF4-FFF2-40B4-BE49-F238E27FC236}">
                <a16:creationId xmlns:a16="http://schemas.microsoft.com/office/drawing/2014/main" id="{1BE77BE8-59EA-ADAB-1C39-6F5F35B0FB3F}"/>
              </a:ext>
            </a:extLst>
          </p:cNvPr>
          <p:cNvCxnSpPr>
            <a:cxnSpLocks/>
            <a:stCxn id="6" idx="3"/>
            <a:endCxn id="7" idx="1"/>
          </p:cNvCxnSpPr>
          <p:nvPr/>
        </p:nvCxnSpPr>
        <p:spPr>
          <a:xfrm>
            <a:off x="1244601" y="5554171"/>
            <a:ext cx="2463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a:extLst>
              <a:ext uri="{FF2B5EF4-FFF2-40B4-BE49-F238E27FC236}">
                <a16:creationId xmlns:a16="http://schemas.microsoft.com/office/drawing/2014/main" id="{969BA15D-D632-960C-002E-3AB142E005F6}"/>
              </a:ext>
            </a:extLst>
          </p:cNvPr>
          <p:cNvSpPr/>
          <p:nvPr/>
        </p:nvSpPr>
        <p:spPr>
          <a:xfrm>
            <a:off x="3106479" y="4741463"/>
            <a:ext cx="1862667" cy="577369"/>
          </a:xfrm>
          <a:prstGeom prst="roundRect">
            <a:avLst>
              <a:gd name="adj" fmla="val 10801"/>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Standardization (per-window for features, rolling statistics for target</a:t>
            </a:r>
          </a:p>
        </p:txBody>
      </p:sp>
      <p:cxnSp>
        <p:nvCxnSpPr>
          <p:cNvPr id="21" name="Straight Arrow Connector 20">
            <a:extLst>
              <a:ext uri="{FF2B5EF4-FFF2-40B4-BE49-F238E27FC236}">
                <a16:creationId xmlns:a16="http://schemas.microsoft.com/office/drawing/2014/main" id="{BA5041C1-C481-60F4-007E-8445F3EA42FE}"/>
              </a:ext>
            </a:extLst>
          </p:cNvPr>
          <p:cNvCxnSpPr>
            <a:cxnSpLocks/>
            <a:stCxn id="4" idx="3"/>
          </p:cNvCxnSpPr>
          <p:nvPr/>
        </p:nvCxnSpPr>
        <p:spPr>
          <a:xfrm>
            <a:off x="1245389" y="4523885"/>
            <a:ext cx="1861090" cy="5022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C7BED5ED-0636-C67D-34AD-F7070BFAF9C3}"/>
              </a:ext>
            </a:extLst>
          </p:cNvPr>
          <p:cNvCxnSpPr>
            <a:cxnSpLocks/>
            <a:stCxn id="5" idx="3"/>
            <a:endCxn id="18" idx="1"/>
          </p:cNvCxnSpPr>
          <p:nvPr/>
        </p:nvCxnSpPr>
        <p:spPr>
          <a:xfrm flipV="1">
            <a:off x="1244601" y="5030148"/>
            <a:ext cx="1861878" cy="88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a:extLst>
              <a:ext uri="{FF2B5EF4-FFF2-40B4-BE49-F238E27FC236}">
                <a16:creationId xmlns:a16="http://schemas.microsoft.com/office/drawing/2014/main" id="{2660795B-7882-97E5-68D5-3487B88207FD}"/>
              </a:ext>
            </a:extLst>
          </p:cNvPr>
          <p:cNvSpPr/>
          <p:nvPr/>
        </p:nvSpPr>
        <p:spPr>
          <a:xfrm>
            <a:off x="5205423" y="4847320"/>
            <a:ext cx="772043" cy="3656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Merging</a:t>
            </a:r>
          </a:p>
        </p:txBody>
      </p:sp>
      <p:cxnSp>
        <p:nvCxnSpPr>
          <p:cNvPr id="31" name="Straight Arrow Connector 30">
            <a:extLst>
              <a:ext uri="{FF2B5EF4-FFF2-40B4-BE49-F238E27FC236}">
                <a16:creationId xmlns:a16="http://schemas.microsoft.com/office/drawing/2014/main" id="{6B77C6C4-BC83-4D77-8BF6-07A6F411B4EE}"/>
              </a:ext>
            </a:extLst>
          </p:cNvPr>
          <p:cNvCxnSpPr>
            <a:cxnSpLocks/>
            <a:stCxn id="18" idx="3"/>
            <a:endCxn id="29" idx="1"/>
          </p:cNvCxnSpPr>
          <p:nvPr/>
        </p:nvCxnSpPr>
        <p:spPr>
          <a:xfrm flipV="1">
            <a:off x="4969146" y="5030147"/>
            <a:ext cx="236277"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5BE263E-4CB0-AAE8-750C-B7D581B69EBC}"/>
              </a:ext>
            </a:extLst>
          </p:cNvPr>
          <p:cNvCxnSpPr>
            <a:cxnSpLocks/>
            <a:stCxn id="7" idx="3"/>
            <a:endCxn id="18" idx="1"/>
          </p:cNvCxnSpPr>
          <p:nvPr/>
        </p:nvCxnSpPr>
        <p:spPr>
          <a:xfrm flipV="1">
            <a:off x="2921001" y="5030148"/>
            <a:ext cx="185478" cy="5240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Rounded Rectangle 55">
            <a:extLst>
              <a:ext uri="{FF2B5EF4-FFF2-40B4-BE49-F238E27FC236}">
                <a16:creationId xmlns:a16="http://schemas.microsoft.com/office/drawing/2014/main" id="{024A0943-3AC1-1885-1C44-63EC525E7C8C}"/>
              </a:ext>
            </a:extLst>
          </p:cNvPr>
          <p:cNvSpPr/>
          <p:nvPr/>
        </p:nvSpPr>
        <p:spPr>
          <a:xfrm>
            <a:off x="6213743" y="4847320"/>
            <a:ext cx="1465521" cy="3656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Sequence creation &amp; Data Splitting</a:t>
            </a:r>
          </a:p>
        </p:txBody>
      </p:sp>
      <p:cxnSp>
        <p:nvCxnSpPr>
          <p:cNvPr id="64" name="Straight Arrow Connector 63">
            <a:extLst>
              <a:ext uri="{FF2B5EF4-FFF2-40B4-BE49-F238E27FC236}">
                <a16:creationId xmlns:a16="http://schemas.microsoft.com/office/drawing/2014/main" id="{8286EEDA-6014-434B-F913-7AF1F13B4FCE}"/>
              </a:ext>
            </a:extLst>
          </p:cNvPr>
          <p:cNvCxnSpPr>
            <a:cxnSpLocks/>
            <a:stCxn id="29" idx="3"/>
            <a:endCxn id="56" idx="1"/>
          </p:cNvCxnSpPr>
          <p:nvPr/>
        </p:nvCxnSpPr>
        <p:spPr>
          <a:xfrm>
            <a:off x="5977466" y="5030147"/>
            <a:ext cx="2362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9" name="Rounded Rectangle 88">
            <a:extLst>
              <a:ext uri="{FF2B5EF4-FFF2-40B4-BE49-F238E27FC236}">
                <a16:creationId xmlns:a16="http://schemas.microsoft.com/office/drawing/2014/main" id="{F9CF3696-3A85-59C4-C9A4-B4EE5AB36AE5}"/>
              </a:ext>
            </a:extLst>
          </p:cNvPr>
          <p:cNvSpPr/>
          <p:nvPr/>
        </p:nvSpPr>
        <p:spPr>
          <a:xfrm>
            <a:off x="7958665" y="4847320"/>
            <a:ext cx="838200" cy="365653"/>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LSTM Model</a:t>
            </a:r>
          </a:p>
        </p:txBody>
      </p:sp>
      <p:cxnSp>
        <p:nvCxnSpPr>
          <p:cNvPr id="100" name="Straight Arrow Connector 99">
            <a:extLst>
              <a:ext uri="{FF2B5EF4-FFF2-40B4-BE49-F238E27FC236}">
                <a16:creationId xmlns:a16="http://schemas.microsoft.com/office/drawing/2014/main" id="{417F258F-EB9D-5E1A-32CC-8457922B61F8}"/>
              </a:ext>
            </a:extLst>
          </p:cNvPr>
          <p:cNvCxnSpPr>
            <a:stCxn id="56" idx="3"/>
            <a:endCxn id="89" idx="1"/>
          </p:cNvCxnSpPr>
          <p:nvPr/>
        </p:nvCxnSpPr>
        <p:spPr>
          <a:xfrm>
            <a:off x="7679264" y="5030147"/>
            <a:ext cx="27940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6444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Approach Overview</a:t>
            </a:r>
          </a:p>
        </p:txBody>
      </p:sp>
      <p:sp>
        <p:nvSpPr>
          <p:cNvPr id="3" name="Content Placeholder 2"/>
          <p:cNvSpPr>
            <a:spLocks noGrp="1"/>
          </p:cNvSpPr>
          <p:nvPr>
            <p:ph idx="1"/>
          </p:nvPr>
        </p:nvSpPr>
        <p:spPr>
          <a:xfrm>
            <a:off x="457200" y="1600201"/>
            <a:ext cx="8229600" cy="253637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A one sentence overview of the deep learning approach: </a:t>
            </a:r>
          </a:p>
          <a:p>
            <a:pPr marL="0" indent="0">
              <a:buNone/>
            </a:pPr>
            <a:r>
              <a:rPr lang="en-US" sz="2000" dirty="0">
                <a:latin typeface="Times New Roman" panose="02020603050405020304" pitchFamily="18" charset="0"/>
                <a:cs typeface="Times New Roman" panose="02020603050405020304" pitchFamily="18" charset="0"/>
              </a:rPr>
              <a:t>A multivariate LSTM model is trained to learn temporal patterns across 9 market sector ETFs and predict their next-day prices jointly from historical market and sentiment features, with the LSTM sharing weights across sectors, allowing information from one sector to influence the others. </a:t>
            </a:r>
          </a:p>
        </p:txBody>
      </p:sp>
      <p:pic>
        <p:nvPicPr>
          <p:cNvPr id="4" name="Picture 3">
            <a:extLst>
              <a:ext uri="{FF2B5EF4-FFF2-40B4-BE49-F238E27FC236}">
                <a16:creationId xmlns:a16="http://schemas.microsoft.com/office/drawing/2014/main" id="{B2B3E29B-2049-6D88-0219-F99EA67AE630}"/>
              </a:ext>
            </a:extLst>
          </p:cNvPr>
          <p:cNvPicPr>
            <a:picLocks noChangeAspect="1"/>
          </p:cNvPicPr>
          <p:nvPr/>
        </p:nvPicPr>
        <p:blipFill>
          <a:blip r:embed="rId2"/>
          <a:stretch>
            <a:fillRect/>
          </a:stretch>
        </p:blipFill>
        <p:spPr>
          <a:xfrm>
            <a:off x="2544233" y="3577496"/>
            <a:ext cx="4055533" cy="3005866"/>
          </a:xfrm>
          <a:prstGeom prst="rect">
            <a:avLst/>
          </a:prstGeom>
        </p:spPr>
      </p:pic>
      <p:sp>
        <p:nvSpPr>
          <p:cNvPr id="5" name="TextBox 4">
            <a:extLst>
              <a:ext uri="{FF2B5EF4-FFF2-40B4-BE49-F238E27FC236}">
                <a16:creationId xmlns:a16="http://schemas.microsoft.com/office/drawing/2014/main" id="{747DABAB-8D7A-3C5A-B15A-A231E6601705}"/>
              </a:ext>
            </a:extLst>
          </p:cNvPr>
          <p:cNvSpPr txBox="1"/>
          <p:nvPr/>
        </p:nvSpPr>
        <p:spPr>
          <a:xfrm>
            <a:off x="2620724" y="6581001"/>
            <a:ext cx="134167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(Stack Overflow)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dirty="0">
                <a:latin typeface="Times New Roman" panose="02020603050405020304" pitchFamily="18" charset="0"/>
                <a:cs typeface="Times New Roman" panose="02020603050405020304" pitchFamily="18" charset="0"/>
              </a:rPr>
              <a:t>Model Architecture &amp; Design Choices</a:t>
            </a:r>
          </a:p>
        </p:txBody>
      </p:sp>
      <p:sp>
        <p:nvSpPr>
          <p:cNvPr id="3" name="Content Placeholder 2"/>
          <p:cNvSpPr>
            <a:spLocks noGrp="1"/>
          </p:cNvSpPr>
          <p:nvPr>
            <p:ph idx="1"/>
          </p:nvPr>
        </p:nvSpPr>
        <p:spPr>
          <a:xfrm>
            <a:off x="457200" y="1600200"/>
            <a:ext cx="5156791" cy="4983162"/>
          </a:xfrm>
        </p:spPr>
        <p:txBody>
          <a:bodyPr>
            <a:normAutofit/>
          </a:bodyPr>
          <a:lstStyle/>
          <a:p>
            <a:pPr marL="0" indent="0">
              <a:buNone/>
            </a:pPr>
            <a:r>
              <a:rPr lang="en-US" sz="1400" b="1" dirty="0">
                <a:latin typeface="Times New Roman" panose="02020603050405020304" pitchFamily="18" charset="0"/>
                <a:cs typeface="Times New Roman" panose="02020603050405020304" pitchFamily="18" charset="0"/>
              </a:rPr>
              <a:t>Model architecture</a:t>
            </a:r>
            <a:r>
              <a:rPr lang="en-US" sz="1400" dirty="0">
                <a:latin typeface="Times New Roman" panose="02020603050405020304" pitchFamily="18" charset="0"/>
                <a:cs typeface="Times New Roman" panose="02020603050405020304" pitchFamily="18" charset="0"/>
              </a:rPr>
              <a:t>: Stacked LSTM </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dirty="0">
                <a:latin typeface="Times New Roman" panose="02020603050405020304" pitchFamily="18" charset="0"/>
                <a:cs typeface="Times New Roman" panose="02020603050405020304" pitchFamily="18" charset="0"/>
              </a:rPr>
              <a:t>Overfitting risks in financial data → heavy focus on reducing overfitting. </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r>
              <a:rPr lang="en-US" sz="1400" b="1" dirty="0">
                <a:latin typeface="Times New Roman" panose="02020603050405020304" pitchFamily="18" charset="0"/>
                <a:cs typeface="Times New Roman" panose="02020603050405020304" pitchFamily="18" charset="0"/>
              </a:rPr>
              <a:t>Important design choices</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Huber loss function</a:t>
            </a:r>
          </a:p>
          <a:p>
            <a:pPr lvl="1"/>
            <a:r>
              <a:rPr lang="en-US" sz="1400" dirty="0">
                <a:latin typeface="Times New Roman" panose="02020603050405020304" pitchFamily="18" charset="0"/>
                <a:cs typeface="Times New Roman" panose="02020603050405020304" pitchFamily="18" charset="0"/>
              </a:rPr>
              <a:t>Less sensitive to extreme outliers (which are very common in financial data).</a:t>
            </a:r>
          </a:p>
          <a:p>
            <a:r>
              <a:rPr lang="en-US" sz="1400" dirty="0">
                <a:latin typeface="Times New Roman" panose="02020603050405020304" pitchFamily="18" charset="0"/>
                <a:cs typeface="Times New Roman" panose="02020603050405020304" pitchFamily="18" charset="0"/>
              </a:rPr>
              <a:t>Heavy regularization (reducing noise)</a:t>
            </a:r>
          </a:p>
          <a:p>
            <a:pPr lvl="1"/>
            <a:r>
              <a:rPr lang="en-US" sz="1400" dirty="0">
                <a:latin typeface="Times New Roman" panose="02020603050405020304" pitchFamily="18" charset="0"/>
                <a:cs typeface="Times New Roman" panose="02020603050405020304" pitchFamily="18" charset="0"/>
              </a:rPr>
              <a:t>Kernel and recurrent L2 regularization on all LSTM layers</a:t>
            </a:r>
          </a:p>
          <a:p>
            <a:pPr lvl="1"/>
            <a:r>
              <a:rPr lang="en-US" sz="1400" dirty="0">
                <a:latin typeface="Times New Roman" panose="02020603050405020304" pitchFamily="18" charset="0"/>
                <a:cs typeface="Times New Roman" panose="02020603050405020304" pitchFamily="18" charset="0"/>
              </a:rPr>
              <a:t>Dropout on LSTM layers and dense layers </a:t>
            </a:r>
          </a:p>
          <a:p>
            <a:r>
              <a:rPr lang="en-US" sz="1400" dirty="0">
                <a:latin typeface="Times New Roman" panose="02020603050405020304" pitchFamily="18" charset="0"/>
                <a:cs typeface="Times New Roman" panose="02020603050405020304" pitchFamily="18" charset="0"/>
              </a:rPr>
              <a:t>Model callbacks</a:t>
            </a:r>
          </a:p>
          <a:p>
            <a:pPr lvl="1"/>
            <a:r>
              <a:rPr lang="en-US" sz="1400" dirty="0">
                <a:latin typeface="Times New Roman" panose="02020603050405020304" pitchFamily="18" charset="0"/>
                <a:cs typeface="Times New Roman" panose="02020603050405020304" pitchFamily="18" charset="0"/>
              </a:rPr>
              <a:t>Early stopping to prevent extreme overfitting between epochs</a:t>
            </a:r>
          </a:p>
          <a:p>
            <a:pPr lvl="1"/>
            <a:r>
              <a:rPr lang="en-US" sz="1400" dirty="0">
                <a:latin typeface="Times New Roman" panose="02020603050405020304" pitchFamily="18" charset="0"/>
                <a:cs typeface="Times New Roman" panose="02020603050405020304" pitchFamily="18" charset="0"/>
              </a:rPr>
              <a:t>Learning rate scheduler for continual fine-tuning of weights</a:t>
            </a:r>
          </a:p>
          <a:p>
            <a:r>
              <a:rPr lang="en-US" sz="1400" dirty="0">
                <a:latin typeface="Times New Roman" panose="02020603050405020304" pitchFamily="18" charset="0"/>
                <a:cs typeface="Times New Roman" panose="02020603050405020304" pitchFamily="18" charset="0"/>
              </a:rPr>
              <a:t>Batch size: 32</a:t>
            </a:r>
          </a:p>
          <a:p>
            <a:r>
              <a:rPr lang="en-US" sz="1400" dirty="0">
                <a:latin typeface="Times New Roman" panose="02020603050405020304" pitchFamily="18" charset="0"/>
                <a:cs typeface="Times New Roman" panose="02020603050405020304" pitchFamily="18" charset="0"/>
              </a:rPr>
              <a:t>Epochs: 100 (intentionally high due to early stopping</a:t>
            </a:r>
            <a:r>
              <a:rPr lang="en-US" sz="1400" b="1" dirty="0">
                <a:latin typeface="Times New Roman" panose="02020603050405020304" pitchFamily="18" charset="0"/>
                <a:cs typeface="Times New Roman" panose="02020603050405020304" pitchFamily="18" charset="0"/>
              </a:rPr>
              <a:t>)</a:t>
            </a:r>
            <a:endParaRPr lang="en-US" sz="1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3B471089-2D02-5B51-8E0E-5397DC9AC772}"/>
              </a:ext>
            </a:extLst>
          </p:cNvPr>
          <p:cNvSpPr txBox="1">
            <a:spLocks/>
          </p:cNvSpPr>
          <p:nvPr/>
        </p:nvSpPr>
        <p:spPr>
          <a:xfrm>
            <a:off x="5826642" y="1715349"/>
            <a:ext cx="2860158" cy="1504542"/>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dirty="0">
                <a:latin typeface="Times New Roman" panose="02020603050405020304" pitchFamily="18" charset="0"/>
                <a:cs typeface="Times New Roman" panose="02020603050405020304" pitchFamily="18" charset="0"/>
              </a:rPr>
              <a:t>Nearly every model design choice was made with the intention of reducing overfitting. Financial data is </a:t>
            </a:r>
            <a:r>
              <a:rPr lang="en-US" sz="1800" u="sng" dirty="0">
                <a:latin typeface="Times New Roman" panose="02020603050405020304" pitchFamily="18" charset="0"/>
                <a:cs typeface="Times New Roman" panose="02020603050405020304" pitchFamily="18" charset="0"/>
              </a:rPr>
              <a:t>extremely noisy</a:t>
            </a:r>
            <a:r>
              <a:rPr lang="en-US" sz="1800" dirty="0">
                <a:latin typeface="Times New Roman" panose="02020603050405020304" pitchFamily="18" charset="0"/>
                <a:cs typeface="Times New Roman" panose="02020603050405020304" pitchFamily="18" charset="0"/>
              </a:rPr>
              <a:t>, and hence very easy to overfit. </a:t>
            </a:r>
          </a:p>
        </p:txBody>
      </p:sp>
      <p:pic>
        <p:nvPicPr>
          <p:cNvPr id="8" name="Picture 7" descr="A graph of a function&#10;&#10;AI-generated content may be incorrect.">
            <a:extLst>
              <a:ext uri="{FF2B5EF4-FFF2-40B4-BE49-F238E27FC236}">
                <a16:creationId xmlns:a16="http://schemas.microsoft.com/office/drawing/2014/main" id="{E37C90DF-EB94-3B12-4DCC-EA04012C3F5C}"/>
              </a:ext>
            </a:extLst>
          </p:cNvPr>
          <p:cNvPicPr>
            <a:picLocks noChangeAspect="1"/>
          </p:cNvPicPr>
          <p:nvPr/>
        </p:nvPicPr>
        <p:blipFill>
          <a:blip r:embed="rId2"/>
          <a:stretch>
            <a:fillRect/>
          </a:stretch>
        </p:blipFill>
        <p:spPr>
          <a:xfrm>
            <a:off x="5711058" y="3758575"/>
            <a:ext cx="3091326" cy="2134225"/>
          </a:xfrm>
          <a:prstGeom prst="rect">
            <a:avLst/>
          </a:prstGeom>
        </p:spPr>
      </p:pic>
      <p:sp>
        <p:nvSpPr>
          <p:cNvPr id="5" name="TextBox 4">
            <a:extLst>
              <a:ext uri="{FF2B5EF4-FFF2-40B4-BE49-F238E27FC236}">
                <a16:creationId xmlns:a16="http://schemas.microsoft.com/office/drawing/2014/main" id="{4BFBDADF-CE73-E38B-6943-FB4942864845}"/>
              </a:ext>
            </a:extLst>
          </p:cNvPr>
          <p:cNvSpPr txBox="1"/>
          <p:nvPr/>
        </p:nvSpPr>
        <p:spPr>
          <a:xfrm>
            <a:off x="8005524" y="5892800"/>
            <a:ext cx="98910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(“Huber”)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Experimental Setup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A </a:t>
                </a:r>
                <a:r>
                  <a:rPr lang="en-US" sz="1800" b="1" dirty="0">
                    <a:latin typeface="Times New Roman" panose="02020603050405020304" pitchFamily="18" charset="0"/>
                    <a:cs typeface="Times New Roman" panose="02020603050405020304" pitchFamily="18" charset="0"/>
                  </a:rPr>
                  <a:t>train-</a:t>
                </a:r>
                <a:r>
                  <a:rPr lang="en-US" sz="1800" b="1" dirty="0" err="1">
                    <a:latin typeface="Times New Roman" panose="02020603050405020304" pitchFamily="18" charset="0"/>
                    <a:cs typeface="Times New Roman" panose="02020603050405020304" pitchFamily="18" charset="0"/>
                  </a:rPr>
                  <a:t>val</a:t>
                </a:r>
                <a:r>
                  <a:rPr lang="en-US" sz="1800" b="1" dirty="0">
                    <a:latin typeface="Times New Roman" panose="02020603050405020304" pitchFamily="18" charset="0"/>
                    <a:cs typeface="Times New Roman" panose="02020603050405020304" pitchFamily="18" charset="0"/>
                  </a:rPr>
                  <a:t>-test split </a:t>
                </a:r>
                <a:r>
                  <a:rPr lang="en-US" sz="1800" dirty="0">
                    <a:latin typeface="Times New Roman" panose="02020603050405020304" pitchFamily="18" charset="0"/>
                    <a:cs typeface="Times New Roman" panose="02020603050405020304" pitchFamily="18" charset="0"/>
                  </a:rPr>
                  <a:t>of 75%-15%-15% was used (hence the number of training examples being 1815).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Evaluation metrics</a:t>
                </a:r>
                <a:r>
                  <a:rPr lang="en-US" sz="1800" dirty="0">
                    <a:latin typeface="Times New Roman" panose="02020603050405020304" pitchFamily="18" charset="0"/>
                    <a:cs typeface="Times New Roman" panose="02020603050405020304" pitchFamily="18" charset="0"/>
                  </a:rPr>
                  <a:t>: </a:t>
                </a:r>
              </a:p>
              <a:p>
                <a14:m>
                  <m:oMath xmlns:m="http://schemas.openxmlformats.org/officeDocument/2006/math">
                    <m:r>
                      <a:rPr lang="en-US" sz="1800" b="0" i="1" smtClean="0">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is used as an error metric given in the original units (dollars). </a:t>
                </a:r>
              </a:p>
              <a:p>
                <a14:m>
                  <m:oMath xmlns:m="http://schemas.openxmlformats.org/officeDocument/2006/math">
                    <m:sSup>
                      <m:sSupPr>
                        <m:ctrlPr>
                          <a:rPr lang="en-US" sz="1800" b="0" i="1" smtClean="0">
                            <a:latin typeface="Cambria Math" panose="02040503050406030204" pitchFamily="18" charset="0"/>
                            <a:cs typeface="Times New Roman" panose="02020603050405020304" pitchFamily="18" charset="0"/>
                          </a:rPr>
                        </m:ctrlPr>
                      </m:sSupPr>
                      <m:e>
                        <m:r>
                          <a:rPr lang="en-US" sz="1800" b="0" i="1" smtClean="0">
                            <a:latin typeface="Cambria Math" panose="02040503050406030204" pitchFamily="18" charset="0"/>
                            <a:cs typeface="Times New Roman" panose="02020603050405020304" pitchFamily="18" charset="0"/>
                          </a:rPr>
                          <m:t>𝑅</m:t>
                        </m:r>
                      </m:e>
                      <m:sup>
                        <m:r>
                          <a:rPr lang="en-US" sz="1800" b="0" i="1" smtClean="0">
                            <a:latin typeface="Cambria Math" panose="02040503050406030204" pitchFamily="18" charset="0"/>
                            <a:cs typeface="Times New Roman" panose="02020603050405020304" pitchFamily="18" charset="0"/>
                          </a:rPr>
                          <m:t>2</m:t>
                        </m:r>
                      </m:sup>
                    </m:sSup>
                  </m:oMath>
                </a14:m>
                <a:r>
                  <a:rPr lang="en-US" sz="1800" b="0" dirty="0">
                    <a:latin typeface="Times New Roman" panose="02020603050405020304" pitchFamily="18" charset="0"/>
                    <a:cs typeface="Times New Roman" panose="02020603050405020304" pitchFamily="18" charset="0"/>
                  </a:rPr>
                  <a:t> is used as a scale-independent metric (doesn’t depend on price).</a:t>
                </a:r>
              </a:p>
              <a:p>
                <a:pPr marL="0" indent="0">
                  <a:buNone/>
                </a:pPr>
                <a:r>
                  <a:rPr lang="en-US" sz="1800" dirty="0">
                    <a:latin typeface="Times New Roman" panose="02020603050405020304" pitchFamily="18" charset="0"/>
                    <a:cs typeface="Times New Roman" panose="02020603050405020304" pitchFamily="18" charset="0"/>
                  </a:rPr>
                  <a:t>Having both a scale-dependent and a scale-independent metric allows for a fair assessment of both absolute predictive accuracy and relative performance across sectors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Implementation details</a:t>
                </a: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IDE: Google </a:t>
                </a:r>
                <a:r>
                  <a:rPr lang="en-US" sz="1800" dirty="0" err="1">
                    <a:latin typeface="Times New Roman" panose="02020603050405020304" pitchFamily="18" charset="0"/>
                    <a:cs typeface="Times New Roman" panose="02020603050405020304" pitchFamily="18" charset="0"/>
                  </a:rPr>
                  <a:t>Colab</a:t>
                </a:r>
                <a:r>
                  <a:rPr lang="en-US" sz="1800" dirty="0">
                    <a:latin typeface="Times New Roman" panose="02020603050405020304" pitchFamily="18" charset="0"/>
                    <a:cs typeface="Times New Roman" panose="02020603050405020304" pitchFamily="18" charset="0"/>
                  </a:rPr>
                  <a:t> was used for ease of dependency management. </a:t>
                </a:r>
              </a:p>
              <a:p>
                <a:r>
                  <a:rPr lang="en-US" sz="1800" dirty="0">
                    <a:latin typeface="Times New Roman" panose="02020603050405020304" pitchFamily="18" charset="0"/>
                    <a:cs typeface="Times New Roman" panose="02020603050405020304" pitchFamily="18" charset="0"/>
                  </a:rPr>
                  <a:t>Framework: The model was implemented using </a:t>
                </a:r>
                <a:r>
                  <a:rPr lang="en-US" sz="1800" dirty="0" err="1">
                    <a:latin typeface="Times New Roman" panose="02020603050405020304" pitchFamily="18" charset="0"/>
                    <a:cs typeface="Times New Roman" panose="02020603050405020304" pitchFamily="18" charset="0"/>
                  </a:rPr>
                  <a:t>Keras</a:t>
                </a:r>
                <a:r>
                  <a:rPr lang="en-US" sz="1800" dirty="0">
                    <a:latin typeface="Times New Roman" panose="02020603050405020304" pitchFamily="18" charset="0"/>
                    <a:cs typeface="Times New Roman" panose="02020603050405020304" pitchFamily="18" charset="0"/>
                  </a:rPr>
                  <a:t> in Python. </a:t>
                </a:r>
              </a:p>
              <a:p>
                <a:r>
                  <a:rPr lang="en-US" sz="1800" dirty="0">
                    <a:latin typeface="Times New Roman" panose="02020603050405020304" pitchFamily="18" charset="0"/>
                    <a:cs typeface="Times New Roman" panose="02020603050405020304" pitchFamily="18" charset="0"/>
                  </a:rPr>
                  <a:t>Hardware: A (virtual) T4 GPU was used for quicker training and prediction.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17" t="-840" b="-840"/>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dirty="0">
                <a:latin typeface="Times New Roman" panose="02020603050405020304" pitchFamily="18" charset="0"/>
                <a:cs typeface="Times New Roman" panose="02020603050405020304" pitchFamily="18" charset="0"/>
              </a:rPr>
              <a:t>Key Results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3939363"/>
                <a:ext cx="8229600" cy="2757770"/>
              </a:xfrm>
            </p:spPr>
            <p:txBody>
              <a:bodyPr>
                <a:normAutofit fontScale="85000" lnSpcReduction="10000"/>
              </a:bodyPr>
              <a:lstStyle/>
              <a:p>
                <a:pPr marL="0" indent="0">
                  <a:buNone/>
                </a:pPr>
                <a:r>
                  <a:rPr lang="en-US" sz="1800" dirty="0">
                    <a:latin typeface="Times New Roman" panose="02020603050405020304" pitchFamily="18" charset="0"/>
                    <a:cs typeface="Times New Roman" panose="02020603050405020304" pitchFamily="18" charset="0"/>
                  </a:rPr>
                  <a:t>Best-performing model: 2-layer stacked LSTM</a:t>
                </a:r>
              </a:p>
              <a:p>
                <a:r>
                  <a:rPr lang="en-US" sz="1800" b="1" dirty="0">
                    <a:latin typeface="Times New Roman" panose="02020603050405020304" pitchFamily="18" charset="0"/>
                    <a:cs typeface="Times New Roman" panose="02020603050405020304" pitchFamily="18" charset="0"/>
                  </a:rPr>
                  <a:t>Average test </a:t>
                </a:r>
                <a14:m>
                  <m:oMath xmlns:m="http://schemas.openxmlformats.org/officeDocument/2006/math">
                    <m:r>
                      <a:rPr lang="en-US" sz="1800" b="1" i="1">
                        <a:latin typeface="Cambria Math" panose="02040503050406030204" pitchFamily="18" charset="0"/>
                        <a:cs typeface="Times New Roman" panose="02020603050405020304" pitchFamily="18" charset="0"/>
                      </a:rPr>
                      <m:t>𝑹𝑴𝑺𝑬</m:t>
                    </m:r>
                  </m:oMath>
                </a14:m>
                <a:r>
                  <a:rPr lang="en-US" sz="1800" b="1" dirty="0">
                    <a:latin typeface="Times New Roman" panose="02020603050405020304" pitchFamily="18" charset="0"/>
                    <a:cs typeface="Times New Roman" panose="02020603050405020304" pitchFamily="18" charset="0"/>
                  </a:rPr>
                  <a:t> = $3.02</a:t>
                </a:r>
              </a:p>
              <a:p>
                <a:r>
                  <a:rPr lang="en-US" sz="1800" b="1" dirty="0">
                    <a:latin typeface="Times New Roman" panose="02020603050405020304" pitchFamily="18" charset="0"/>
                    <a:cs typeface="Times New Roman" panose="02020603050405020304" pitchFamily="18" charset="0"/>
                  </a:rPr>
                  <a:t>Average test </a:t>
                </a:r>
                <a14:m>
                  <m:oMath xmlns:m="http://schemas.openxmlformats.org/officeDocument/2006/math">
                    <m:sSup>
                      <m:sSupPr>
                        <m:ctrlPr>
                          <a:rPr lang="en-US" sz="1800" b="1" i="1" smtClean="0">
                            <a:latin typeface="Cambria Math" panose="02040503050406030204" pitchFamily="18" charset="0"/>
                            <a:cs typeface="Times New Roman" panose="02020603050405020304" pitchFamily="18" charset="0"/>
                          </a:rPr>
                        </m:ctrlPr>
                      </m:sSupPr>
                      <m:e>
                        <m:r>
                          <a:rPr lang="en-US" sz="1800" b="1" i="1">
                            <a:latin typeface="Cambria Math" panose="02040503050406030204" pitchFamily="18" charset="0"/>
                            <a:cs typeface="Times New Roman" panose="02020603050405020304" pitchFamily="18" charset="0"/>
                          </a:rPr>
                          <m:t>𝑹</m:t>
                        </m:r>
                      </m:e>
                      <m:sup>
                        <m:r>
                          <a:rPr lang="en-US" sz="1800" b="1" i="1">
                            <a:latin typeface="Cambria Math" panose="02040503050406030204" pitchFamily="18" charset="0"/>
                            <a:cs typeface="Times New Roman" panose="02020603050405020304" pitchFamily="18" charset="0"/>
                          </a:rPr>
                          <m:t>𝟐</m:t>
                        </m:r>
                      </m:sup>
                    </m:sSup>
                  </m:oMath>
                </a14:m>
                <a:r>
                  <a:rPr lang="en-US" sz="1800" b="1" dirty="0">
                    <a:latin typeface="Times New Roman" panose="02020603050405020304" pitchFamily="18" charset="0"/>
                    <a:cs typeface="Times New Roman" panose="02020603050405020304" pitchFamily="18" charset="0"/>
                  </a:rPr>
                  <a:t> = 0.82 </a:t>
                </a:r>
              </a:p>
              <a:p>
                <a:pPr marL="0" indent="0">
                  <a:buNone/>
                </a:pPr>
                <a:r>
                  <a:rPr lang="en-US" sz="1800" dirty="0">
                    <a:latin typeface="Times New Roman" panose="02020603050405020304" pitchFamily="18" charset="0"/>
                    <a:cs typeface="Times New Roman" panose="02020603050405020304" pitchFamily="18" charset="0"/>
                  </a:rPr>
                  <a:t>Interpretation:</a:t>
                </a:r>
              </a:p>
              <a:p>
                <a:r>
                  <a:rPr lang="en-US" sz="1800" dirty="0">
                    <a:latin typeface="Times New Roman" panose="02020603050405020304" pitchFamily="18" charset="0"/>
                    <a:cs typeface="Times New Roman" panose="02020603050405020304" pitchFamily="18" charset="0"/>
                  </a:rPr>
                  <a:t>A low average test </a:t>
                </a:r>
                <a14:m>
                  <m:oMath xmlns:m="http://schemas.openxmlformats.org/officeDocument/2006/math">
                    <m:r>
                      <a:rPr lang="en-US" sz="1800" i="1">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indicates the model predicts next-day prices across ETFs with low error.  </a:t>
                </a:r>
              </a:p>
              <a:p>
                <a:r>
                  <a:rPr lang="en-US" sz="1800" dirty="0">
                    <a:latin typeface="Times New Roman" panose="02020603050405020304" pitchFamily="18" charset="0"/>
                    <a:cs typeface="Times New Roman" panose="02020603050405020304" pitchFamily="18" charset="0"/>
                  </a:rPr>
                  <a:t>A high average test </a:t>
                </a:r>
                <a14:m>
                  <m:oMath xmlns:m="http://schemas.openxmlformats.org/officeDocument/2006/math">
                    <m:sSup>
                      <m:sSupPr>
                        <m:ctrlPr>
                          <a:rPr lang="en-US" sz="1800" i="1">
                            <a:latin typeface="Cambria Math" panose="02040503050406030204" pitchFamily="18" charset="0"/>
                            <a:cs typeface="Times New Roman" panose="02020603050405020304" pitchFamily="18" charset="0"/>
                          </a:rPr>
                        </m:ctrlPr>
                      </m:sSupPr>
                      <m:e>
                        <m:r>
                          <a:rPr lang="en-US" sz="1800" i="1">
                            <a:latin typeface="Cambria Math" panose="02040503050406030204" pitchFamily="18" charset="0"/>
                            <a:cs typeface="Times New Roman" panose="02020603050405020304" pitchFamily="18" charset="0"/>
                          </a:rPr>
                          <m:t>𝑅</m:t>
                        </m:r>
                      </m:e>
                      <m:sup>
                        <m:r>
                          <a:rPr lang="en-US" sz="1800" i="1">
                            <a:latin typeface="Cambria Math" panose="02040503050406030204" pitchFamily="18" charset="0"/>
                            <a:cs typeface="Times New Roman" panose="02020603050405020304" pitchFamily="18" charset="0"/>
                          </a:rPr>
                          <m:t>2</m:t>
                        </m:r>
                      </m:sup>
                    </m:sSup>
                  </m:oMath>
                </a14:m>
                <a:r>
                  <a:rPr lang="en-US" sz="1800" dirty="0">
                    <a:latin typeface="Times New Roman" panose="02020603050405020304" pitchFamily="18" charset="0"/>
                    <a:cs typeface="Times New Roman" panose="02020603050405020304" pitchFamily="18" charset="0"/>
                  </a:rPr>
                  <a:t> (with only moderate variation of</a:t>
                </a:r>
                <a:r>
                  <a:rPr lang="en-US" sz="1800" dirty="0">
                    <a:cs typeface="Times New Roman" panose="02020603050405020304" pitchFamily="18" charset="0"/>
                  </a:rPr>
                  <a:t> </a:t>
                </a:r>
                <a14:m>
                  <m:oMath xmlns:m="http://schemas.openxmlformats.org/officeDocument/2006/math">
                    <m:sSup>
                      <m:sSupPr>
                        <m:ctrlPr>
                          <a:rPr lang="en-US" sz="1800" i="1">
                            <a:latin typeface="Cambria Math" panose="02040503050406030204" pitchFamily="18" charset="0"/>
                            <a:cs typeface="Times New Roman" panose="02020603050405020304" pitchFamily="18" charset="0"/>
                          </a:rPr>
                        </m:ctrlPr>
                      </m:sSupPr>
                      <m:e>
                        <m:r>
                          <a:rPr lang="en-US" sz="1800" i="1">
                            <a:latin typeface="Cambria Math" panose="02040503050406030204" pitchFamily="18" charset="0"/>
                            <a:cs typeface="Times New Roman" panose="02020603050405020304" pitchFamily="18" charset="0"/>
                          </a:rPr>
                          <m:t>𝑅</m:t>
                        </m:r>
                      </m:e>
                      <m:sup>
                        <m:r>
                          <a:rPr lang="en-US" sz="1800" i="1">
                            <a:latin typeface="Cambria Math" panose="02040503050406030204" pitchFamily="18" charset="0"/>
                            <a:cs typeface="Times New Roman" panose="02020603050405020304" pitchFamily="18" charset="0"/>
                          </a:rPr>
                          <m:t>2</m:t>
                        </m:r>
                      </m:sup>
                    </m:sSup>
                  </m:oMath>
                </a14:m>
                <a:r>
                  <a:rPr lang="en-US" sz="1800" dirty="0">
                    <a:latin typeface="Times New Roman" panose="02020603050405020304" pitchFamily="18" charset="0"/>
                    <a:cs typeface="Times New Roman" panose="02020603050405020304" pitchFamily="18" charset="0"/>
                  </a:rPr>
                  <a:t> values) indicates the model is predicting each ETF’s prices with a high degree of consistency and explanatory accuracy across sectors.</a:t>
                </a:r>
              </a:p>
              <a:p>
                <a:r>
                  <a:rPr lang="en-US" sz="1800" dirty="0">
                    <a:latin typeface="Times New Roman" panose="02020603050405020304" pitchFamily="18" charset="0"/>
                    <a:cs typeface="Times New Roman" panose="02020603050405020304" pitchFamily="18" charset="0"/>
                  </a:rPr>
                  <a:t>Performance of the model on each individual ETF can be analyzed to see which sectors are better predicted by the data. </a:t>
                </a:r>
              </a:p>
              <a:p>
                <a:pPr marL="0" indent="0">
                  <a:buNone/>
                </a:pPr>
                <a:r>
                  <a:rPr lang="en-US" sz="1800" b="1" dirty="0">
                    <a:latin typeface="Times New Roman" panose="02020603050405020304" pitchFamily="18" charset="0"/>
                    <a:cs typeface="Times New Roman" panose="02020603050405020304" pitchFamily="18" charset="0"/>
                  </a:rPr>
                  <a:t>Takeaway</a:t>
                </a:r>
                <a:r>
                  <a:rPr lang="en-US" sz="1800" dirty="0">
                    <a:latin typeface="Times New Roman" panose="02020603050405020304" pitchFamily="18" charset="0"/>
                    <a:cs typeface="Times New Roman" panose="02020603050405020304" pitchFamily="18" charset="0"/>
                  </a:rPr>
                  <a:t>: The model generalizes well to unseen data and captures cross-sector dependencies effectively. </a:t>
                </a:r>
                <a:endParaRPr sz="18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3939363"/>
                <a:ext cx="8229600" cy="2757770"/>
              </a:xfrm>
              <a:blipFill>
                <a:blip r:embed="rId2"/>
                <a:stretch>
                  <a:fillRect l="-309" t="-917"/>
                </a:stretch>
              </a:blipFill>
            </p:spPr>
            <p:txBody>
              <a:bodyPr/>
              <a:lstStyle/>
              <a:p>
                <a:r>
                  <a:rPr lang="en-US">
                    <a:noFill/>
                  </a:rPr>
                  <a:t> </a:t>
                </a:r>
              </a:p>
            </p:txBody>
          </p:sp>
        </mc:Fallback>
      </mc:AlternateContent>
      <p:pic>
        <p:nvPicPr>
          <p:cNvPr id="5" name="Picture 4" descr="A comparison of a bar graph&#10;&#10;AI-generated content may be incorrect.">
            <a:extLst>
              <a:ext uri="{FF2B5EF4-FFF2-40B4-BE49-F238E27FC236}">
                <a16:creationId xmlns:a16="http://schemas.microsoft.com/office/drawing/2014/main" id="{0B0B5A05-7303-272A-A722-CF5C4EB3DAE8}"/>
              </a:ext>
            </a:extLst>
          </p:cNvPr>
          <p:cNvPicPr>
            <a:picLocks noChangeAspect="1"/>
          </p:cNvPicPr>
          <p:nvPr/>
        </p:nvPicPr>
        <p:blipFill>
          <a:blip r:embed="rId3"/>
          <a:stretch>
            <a:fillRect/>
          </a:stretch>
        </p:blipFill>
        <p:spPr>
          <a:xfrm>
            <a:off x="685800" y="1417638"/>
            <a:ext cx="7772400" cy="2590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51155-884A-E1CD-754B-61512E2BC9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9F8EB-FB70-7E54-24C5-A881A0A55B48}"/>
              </a:ext>
            </a:extLst>
          </p:cNvPr>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1: Training Curve</a:t>
            </a:r>
            <a:endParaRPr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419E173D-21DC-8C20-F192-28E9D3EA99F5}"/>
              </a:ext>
            </a:extLst>
          </p:cNvPr>
          <p:cNvSpPr txBox="1">
            <a:spLocks/>
          </p:cNvSpPr>
          <p:nvPr/>
        </p:nvSpPr>
        <p:spPr>
          <a:xfrm>
            <a:off x="170121" y="5151627"/>
            <a:ext cx="8973879" cy="144020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600" b="1" dirty="0">
                <a:latin typeface="Times New Roman" panose="02020603050405020304" pitchFamily="18" charset="0"/>
                <a:cs typeface="Times New Roman" panose="02020603050405020304" pitchFamily="18" charset="0"/>
              </a:rPr>
              <a:t>Takeaway</a:t>
            </a:r>
            <a:r>
              <a:rPr lang="en-US" sz="1600" dirty="0">
                <a:latin typeface="Times New Roman" panose="02020603050405020304" pitchFamily="18" charset="0"/>
                <a:cs typeface="Times New Roman" panose="02020603050405020304" pitchFamily="18" charset="0"/>
              </a:rPr>
              <a:t>: Decreasing training curves with validation loss consistent with training loss show that the model has effectively learned patterns in the data and is generalizing well.</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Note: Early stopping halted training after ~55 epochs due to low marginal decreases in loss (the model typically stops training between epochs 40 and 60). </a:t>
            </a:r>
          </a:p>
          <a:p>
            <a:endParaRPr lang="en-US" sz="1600" dirty="0">
              <a:latin typeface="Times New Roman" panose="02020603050405020304" pitchFamily="18" charset="0"/>
              <a:cs typeface="Times New Roman" panose="02020603050405020304" pitchFamily="18" charset="0"/>
            </a:endParaRPr>
          </a:p>
        </p:txBody>
      </p:sp>
      <p:pic>
        <p:nvPicPr>
          <p:cNvPr id="10" name="Content Placeholder 9" descr="A graph with blue and orange lines&#10;&#10;AI-generated content may be incorrect.">
            <a:extLst>
              <a:ext uri="{FF2B5EF4-FFF2-40B4-BE49-F238E27FC236}">
                <a16:creationId xmlns:a16="http://schemas.microsoft.com/office/drawing/2014/main" id="{0CF0E163-FC91-3380-53E8-775B72224A8F}"/>
              </a:ext>
            </a:extLst>
          </p:cNvPr>
          <p:cNvPicPr>
            <a:picLocks noGrp="1" noChangeAspect="1"/>
          </p:cNvPicPr>
          <p:nvPr>
            <p:ph idx="1"/>
          </p:nvPr>
        </p:nvPicPr>
        <p:blipFill>
          <a:blip r:embed="rId2"/>
          <a:stretch>
            <a:fillRect/>
          </a:stretch>
        </p:blipFill>
        <p:spPr>
          <a:xfrm>
            <a:off x="2567763" y="1417638"/>
            <a:ext cx="4008473" cy="3725522"/>
          </a:xfrm>
        </p:spPr>
      </p:pic>
    </p:spTree>
    <p:extLst>
      <p:ext uri="{BB962C8B-B14F-4D97-AF65-F5344CB8AC3E}">
        <p14:creationId xmlns:p14="http://schemas.microsoft.com/office/powerpoint/2010/main" val="955002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0085D-3295-38DD-2A8E-283B7CAE7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A2807-2E68-7585-6D00-B8D74FEBA8BA}"/>
              </a:ext>
            </a:extLst>
          </p:cNvPr>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2: Test Period Predictions</a:t>
            </a:r>
            <a:endParaRPr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ED465DE-704F-97B1-BFED-2E53AC84EC1B}"/>
                  </a:ext>
                </a:extLst>
              </p:cNvPr>
              <p:cNvSpPr>
                <a:spLocks noGrp="1"/>
              </p:cNvSpPr>
              <p:nvPr>
                <p:ph idx="1"/>
              </p:nvPr>
            </p:nvSpPr>
            <p:spPr>
              <a:xfrm>
                <a:off x="6889898" y="1933708"/>
                <a:ext cx="2158408" cy="3880882"/>
              </a:xfrm>
            </p:spPr>
            <p:txBody>
              <a:bodyPr>
                <a:normAutofit fontScale="85000" lnSpcReduction="10000"/>
              </a:bodyPr>
              <a:lstStyle/>
              <a:p>
                <a:pPr marL="0" indent="0">
                  <a:buNone/>
                </a:pPr>
                <a:r>
                  <a:rPr lang="en-US" sz="1800" b="1" dirty="0">
                    <a:latin typeface="Times New Roman" panose="02020603050405020304" pitchFamily="18" charset="0"/>
                    <a:cs typeface="Times New Roman" panose="02020603050405020304" pitchFamily="18" charset="0"/>
                  </a:rPr>
                  <a:t>Takeaway</a:t>
                </a:r>
                <a:r>
                  <a:rPr lang="en-US" sz="1800" dirty="0">
                    <a:latin typeface="Times New Roman" panose="02020603050405020304" pitchFamily="18" charset="0"/>
                    <a:cs typeface="Times New Roman" panose="02020603050405020304" pitchFamily="18" charset="0"/>
                  </a:rPr>
                  <a:t>: The test period predictions all seem to match the actual data closely, with some ETFs showing better performance than others.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XLV, XLI, and XLB show particularly good performance (they have low </a:t>
                </a:r>
                <a14:m>
                  <m:oMath xmlns:m="http://schemas.openxmlformats.org/officeDocument/2006/math">
                    <m:r>
                      <a:rPr lang="en-US" sz="1800" b="0" i="1" smtClean="0">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values).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XLE, XLK, XLY have periods where the model struggles to accurately predict prices (these had higher </a:t>
                </a:r>
                <a14:m>
                  <m:oMath xmlns:m="http://schemas.openxmlformats.org/officeDocument/2006/math">
                    <m:r>
                      <a:rPr lang="en-US" sz="1800" b="0" i="1" smtClean="0">
                        <a:latin typeface="Cambria Math" panose="02040503050406030204" pitchFamily="18" charset="0"/>
                        <a:cs typeface="Times New Roman" panose="02020603050405020304" pitchFamily="18" charset="0"/>
                      </a:rPr>
                      <m:t>𝑅𝑀𝑆𝐸</m:t>
                    </m:r>
                  </m:oMath>
                </a14:m>
                <a:r>
                  <a:rPr lang="en-US" sz="1800" dirty="0">
                    <a:latin typeface="Times New Roman" panose="02020603050405020304" pitchFamily="18" charset="0"/>
                    <a:cs typeface="Times New Roman" panose="02020603050405020304" pitchFamily="18" charset="0"/>
                  </a:rPr>
                  <a:t>). </a:t>
                </a:r>
                <a:endParaRPr sz="1800"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9ED465DE-704F-97B1-BFED-2E53AC84EC1B}"/>
                  </a:ext>
                </a:extLst>
              </p:cNvPr>
              <p:cNvSpPr>
                <a:spLocks noGrp="1" noRot="1" noChangeAspect="1" noMove="1" noResize="1" noEditPoints="1" noAdjustHandles="1" noChangeArrowheads="1" noChangeShapeType="1" noTextEdit="1"/>
              </p:cNvSpPr>
              <p:nvPr>
                <p:ph idx="1"/>
              </p:nvPr>
            </p:nvSpPr>
            <p:spPr>
              <a:xfrm>
                <a:off x="6889898" y="1933708"/>
                <a:ext cx="2158408" cy="3880882"/>
              </a:xfrm>
              <a:blipFill>
                <a:blip r:embed="rId2"/>
                <a:stretch>
                  <a:fillRect l="-1170" t="-654"/>
                </a:stretch>
              </a:blipFill>
            </p:spPr>
            <p:txBody>
              <a:bodyPr/>
              <a:lstStyle/>
              <a:p>
                <a:r>
                  <a:rPr lang="en-US">
                    <a:noFill/>
                  </a:rPr>
                  <a:t> </a:t>
                </a:r>
              </a:p>
            </p:txBody>
          </p:sp>
        </mc:Fallback>
      </mc:AlternateContent>
      <p:pic>
        <p:nvPicPr>
          <p:cNvPr id="5" name="Picture 4" descr="A group of graphs showing the results of a stock market&#10;&#10;AI-generated content may be incorrect.">
            <a:extLst>
              <a:ext uri="{FF2B5EF4-FFF2-40B4-BE49-F238E27FC236}">
                <a16:creationId xmlns:a16="http://schemas.microsoft.com/office/drawing/2014/main" id="{048093BD-A69B-6C5B-EE27-643666DB9031}"/>
              </a:ext>
            </a:extLst>
          </p:cNvPr>
          <p:cNvPicPr>
            <a:picLocks noChangeAspect="1"/>
          </p:cNvPicPr>
          <p:nvPr/>
        </p:nvPicPr>
        <p:blipFill>
          <a:blip r:embed="rId3"/>
          <a:stretch>
            <a:fillRect/>
          </a:stretch>
        </p:blipFill>
        <p:spPr>
          <a:xfrm>
            <a:off x="0" y="1613313"/>
            <a:ext cx="6782508" cy="4521672"/>
          </a:xfrm>
          <a:prstGeom prst="rect">
            <a:avLst/>
          </a:prstGeom>
        </p:spPr>
      </p:pic>
    </p:spTree>
    <p:extLst>
      <p:ext uri="{BB962C8B-B14F-4D97-AF65-F5344CB8AC3E}">
        <p14:creationId xmlns:p14="http://schemas.microsoft.com/office/powerpoint/2010/main" val="1453384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latin typeface="Times New Roman" panose="02020603050405020304" pitchFamily="18" charset="0"/>
                <a:cs typeface="Times New Roman" panose="02020603050405020304" pitchFamily="18" charset="0"/>
              </a:rPr>
              <a:t>Visualization</a:t>
            </a:r>
            <a:r>
              <a:rPr lang="en-US" sz="3200" dirty="0">
                <a:latin typeface="Times New Roman" panose="02020603050405020304" pitchFamily="18" charset="0"/>
                <a:cs typeface="Times New Roman" panose="02020603050405020304" pitchFamily="18" charset="0"/>
              </a:rPr>
              <a:t> 3: Comparing model performance with and without sentiment features</a:t>
            </a:r>
            <a:endParaRPr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5557" y="5178055"/>
            <a:ext cx="8452884" cy="1679945"/>
          </a:xfrm>
        </p:spPr>
        <p:txBody>
          <a:bodyPr>
            <a:normAutofit fontScale="47500" lnSpcReduction="20000"/>
          </a:bodyPr>
          <a:lstStyle/>
          <a:p>
            <a:pPr marL="0" indent="0">
              <a:buNone/>
            </a:pPr>
            <a:r>
              <a:rPr lang="en-US" b="1" dirty="0">
                <a:latin typeface="Times New Roman" panose="02020603050405020304" pitchFamily="18" charset="0"/>
                <a:cs typeface="Times New Roman" panose="02020603050405020304" pitchFamily="18" charset="0"/>
              </a:rPr>
              <a:t>Takeaway</a:t>
            </a:r>
            <a:r>
              <a:rPr lang="en-US" dirty="0">
                <a:latin typeface="Times New Roman" panose="02020603050405020304" pitchFamily="18" charset="0"/>
                <a:cs typeface="Times New Roman" panose="02020603050405020304" pitchFamily="18" charset="0"/>
              </a:rPr>
              <a:t>: Sentiment features provided small but measurable improvements in predictive accuracy for 7 out of the 9 ETFs, with the remaining 2 exhibiting small decreases in performance. </a:t>
            </a:r>
          </a:p>
          <a:p>
            <a:r>
              <a:rPr lang="en-US" dirty="0">
                <a:latin typeface="Times New Roman" panose="02020603050405020304" pitchFamily="18" charset="0"/>
                <a:cs typeface="Times New Roman" panose="02020603050405020304" pitchFamily="18" charset="0"/>
              </a:rPr>
              <a:t>Largest improvements: XLK (technology), XLY (consumer discretionary) - highly-consumer facing industries</a:t>
            </a:r>
          </a:p>
          <a:p>
            <a:r>
              <a:rPr lang="en-US" dirty="0">
                <a:latin typeface="Times New Roman" panose="02020603050405020304" pitchFamily="18" charset="0"/>
                <a:cs typeface="Times New Roman" panose="02020603050405020304" pitchFamily="18" charset="0"/>
              </a:rPr>
              <a:t>Decreased performance: XLE (energy), XLV (health care) - less consumer-facing, more highly driven by government and regulation </a:t>
            </a:r>
          </a:p>
        </p:txBody>
      </p:sp>
      <p:pic>
        <p:nvPicPr>
          <p:cNvPr id="5" name="Picture 4" descr="A graph of different colored bars&#10;&#10;AI-generated content may be incorrect.">
            <a:extLst>
              <a:ext uri="{FF2B5EF4-FFF2-40B4-BE49-F238E27FC236}">
                <a16:creationId xmlns:a16="http://schemas.microsoft.com/office/drawing/2014/main" id="{CD17D36E-C98C-D5F8-23DC-FFCB96A1BF40}"/>
              </a:ext>
            </a:extLst>
          </p:cNvPr>
          <p:cNvPicPr>
            <a:picLocks noChangeAspect="1"/>
          </p:cNvPicPr>
          <p:nvPr/>
        </p:nvPicPr>
        <p:blipFill>
          <a:blip r:embed="rId2"/>
          <a:stretch>
            <a:fillRect/>
          </a:stretch>
        </p:blipFill>
        <p:spPr>
          <a:xfrm>
            <a:off x="2035869" y="1584251"/>
            <a:ext cx="5072261" cy="32066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Insights &amp; Limitations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latin typeface="Times New Roman" panose="02020603050405020304" pitchFamily="18" charset="0"/>
                <a:cs typeface="Times New Roman" panose="02020603050405020304" pitchFamily="18" charset="0"/>
              </a:rPr>
              <a:t>Insights</a:t>
            </a:r>
            <a:r>
              <a:rPr lang="en-US" dirty="0">
                <a:latin typeface="Times New Roman" panose="02020603050405020304" pitchFamily="18" charset="0"/>
                <a:cs typeface="Times New Roman" panose="02020603050405020304" pitchFamily="18" charset="0"/>
              </a:rPr>
              <a:t>: </a:t>
            </a:r>
          </a:p>
          <a:p>
            <a:pPr marL="514350" indent="-514350">
              <a:buAutoNum type="arabicParenBoth"/>
            </a:pPr>
            <a:r>
              <a:rPr lang="en-US" dirty="0">
                <a:latin typeface="Times New Roman" panose="02020603050405020304" pitchFamily="18" charset="0"/>
                <a:cs typeface="Times New Roman" panose="02020603050405020304" pitchFamily="18" charset="0"/>
              </a:rPr>
              <a:t>LSTMs can be effectively used to predict market sector ETFs while accounting for inter-sector dependency with a high degree of predictive accuracy. </a:t>
            </a:r>
          </a:p>
          <a:p>
            <a:pPr marL="514350" indent="-514350">
              <a:buAutoNum type="arabicParenBoth"/>
            </a:pPr>
            <a:r>
              <a:rPr lang="en-US" dirty="0">
                <a:latin typeface="Times New Roman" panose="02020603050405020304" pitchFamily="18" charset="0"/>
                <a:cs typeface="Times New Roman" panose="02020603050405020304" pitchFamily="18" charset="0"/>
              </a:rPr>
              <a:t>Sentiment data improves prediction in industries where consumers are the main drivers of business (technology, consumer discretionary), and less so in sectors where larger-scale change through government regulation drive market movements (energy, healthcare) instead of consumers. </a:t>
            </a:r>
          </a:p>
          <a:p>
            <a:pPr marL="0" indent="0">
              <a:buNone/>
            </a:pPr>
            <a:r>
              <a:rPr lang="en-US" b="1" dirty="0">
                <a:latin typeface="Times New Roman" panose="02020603050405020304" pitchFamily="18" charset="0"/>
                <a:cs typeface="Times New Roman" panose="02020603050405020304" pitchFamily="18" charset="0"/>
              </a:rPr>
              <a:t>Limitations: </a:t>
            </a:r>
          </a:p>
          <a:p>
            <a:r>
              <a:rPr lang="en-US" dirty="0">
                <a:latin typeface="Times New Roman" panose="02020603050405020304" pitchFamily="18" charset="0"/>
                <a:cs typeface="Times New Roman" panose="02020603050405020304" pitchFamily="18" charset="0"/>
              </a:rPr>
              <a:t>Small amount of news data limited the scope of the model. </a:t>
            </a:r>
          </a:p>
          <a:p>
            <a:r>
              <a:rPr lang="en-US" dirty="0">
                <a:latin typeface="Times New Roman" panose="02020603050405020304" pitchFamily="18" charset="0"/>
                <a:cs typeface="Times New Roman" panose="02020603050405020304" pitchFamily="18" charset="0"/>
              </a:rPr>
              <a:t>Sentiment data was aggregated across news categories → model can’t recognize different sectors’ sentiments, only overall market sentiment.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Given more time, I would attempt to separate the sentiment features by news-category (tech news vs. political news, etc.) to improve the model’s performance. This would require greater access to news headlines data.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27604-2610-CF56-8124-C171F8D44C7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022CC09-5016-94D7-0A30-C85514B9795F}"/>
              </a:ext>
            </a:extLst>
          </p:cNvPr>
          <p:cNvSpPr>
            <a:spLocks noGrp="1"/>
          </p:cNvSpPr>
          <p:nvPr>
            <p:ph idx="1"/>
          </p:nvPr>
        </p:nvSpPr>
        <p:spPr>
          <a:xfrm>
            <a:off x="457200" y="1600201"/>
            <a:ext cx="8229600" cy="2023532"/>
          </a:xfrm>
        </p:spPr>
        <p:txBody>
          <a:bodyPr>
            <a:normAutofit fontScale="70000" lnSpcReduction="20000"/>
          </a:bodyPr>
          <a:lstStyle/>
          <a:p>
            <a:r>
              <a:rPr lang="en-US" dirty="0">
                <a:latin typeface="Times New Roman" panose="02020603050405020304" pitchFamily="18" charset="0"/>
                <a:cs typeface="Times New Roman" panose="02020603050405020304" pitchFamily="18" charset="0"/>
              </a:rPr>
              <a:t>A multivariate LSTM predicts 9 ETF next-day prices successfully. </a:t>
            </a:r>
          </a:p>
          <a:p>
            <a:r>
              <a:rPr lang="en-US" dirty="0">
                <a:latin typeface="Times New Roman" panose="02020603050405020304" pitchFamily="18" charset="0"/>
                <a:cs typeface="Times New Roman" panose="02020603050405020304" pitchFamily="18" charset="0"/>
              </a:rPr>
              <a:t>Integrating news headlines reveals which markets’ future performances are more responsive to past investor sentiment.</a:t>
            </a:r>
          </a:p>
          <a:p>
            <a:r>
              <a:rPr lang="en-US" dirty="0">
                <a:latin typeface="Times New Roman" panose="02020603050405020304" pitchFamily="18" charset="0"/>
                <a:cs typeface="Times New Roman" panose="02020603050405020304" pitchFamily="18" charset="0"/>
              </a:rPr>
              <a:t>By predicting a full set of sector prices simultaneously, it produces a </a:t>
            </a:r>
            <a:r>
              <a:rPr lang="en-US" b="1" dirty="0">
                <a:latin typeface="Times New Roman" panose="02020603050405020304" pitchFamily="18" charset="0"/>
                <a:cs typeface="Times New Roman" panose="02020603050405020304" pitchFamily="18" charset="0"/>
              </a:rPr>
              <a:t>data-driven foundation for anticipating short-term cross-market change</a:t>
            </a:r>
            <a:r>
              <a:rPr lang="en-US"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8812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p:txBody>
          <a:bodyPr>
            <a:normAutofit fontScale="47500" lnSpcReduction="20000"/>
          </a:bodyPr>
          <a:lstStyle/>
          <a:p>
            <a:pPr marL="0" indent="0">
              <a:buNone/>
            </a:pPr>
            <a:endParaRPr lang="en-US" sz="1700" u="sng"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Works Cited</a:t>
            </a:r>
          </a:p>
          <a:p>
            <a:pPr marL="0" indent="0">
              <a:buNone/>
            </a:pPr>
            <a:r>
              <a:rPr lang="en-US" dirty="0">
                <a:latin typeface="Times New Roman" panose="02020603050405020304" pitchFamily="18" charset="0"/>
                <a:cs typeface="Times New Roman" panose="02020603050405020304" pitchFamily="18" charset="0"/>
              </a:rPr>
              <a:t>Bollen, Johan. “Twitter Mood Predicts the Stock Market.” </a:t>
            </a:r>
            <a:r>
              <a:rPr lang="en-US" i="1" dirty="0">
                <a:latin typeface="Times New Roman" panose="02020603050405020304" pitchFamily="18" charset="0"/>
                <a:cs typeface="Times New Roman" panose="02020603050405020304" pitchFamily="18" charset="0"/>
              </a:rPr>
              <a:t>Science Direct</a:t>
            </a:r>
            <a:r>
              <a:rPr lang="en-US" dirty="0">
                <a:latin typeface="Times New Roman" panose="02020603050405020304" pitchFamily="18" charset="0"/>
                <a:cs typeface="Times New Roman" panose="02020603050405020304" pitchFamily="18" charset="0"/>
              </a:rPr>
              <a:t>, Elsevier, 2 Feb. 2011, 	https://</a:t>
            </a:r>
            <a:r>
              <a:rPr lang="en-US" dirty="0" err="1">
                <a:latin typeface="Times New Roman" panose="02020603050405020304" pitchFamily="18" charset="0"/>
                <a:cs typeface="Times New Roman" panose="02020603050405020304" pitchFamily="18" charset="0"/>
              </a:rPr>
              <a:t>www.sciencedirect.com</a:t>
            </a:r>
            <a:r>
              <a:rPr lang="en-US" dirty="0">
                <a:latin typeface="Times New Roman" panose="02020603050405020304" pitchFamily="18" charset="0"/>
                <a:cs typeface="Times New Roman" panose="02020603050405020304" pitchFamily="18" charset="0"/>
              </a:rPr>
              <a:t>/science/article/</a:t>
            </a:r>
            <a:r>
              <a:rPr lang="en-US" dirty="0" err="1">
                <a:latin typeface="Times New Roman" panose="02020603050405020304" pitchFamily="18" charset="0"/>
                <a:cs typeface="Times New Roman" panose="02020603050405020304" pitchFamily="18" charset="0"/>
              </a:rPr>
              <a:t>pii</a:t>
            </a:r>
            <a:r>
              <a:rPr lang="en-US" dirty="0">
                <a:latin typeface="Times New Roman" panose="02020603050405020304" pitchFamily="18" charset="0"/>
                <a:cs typeface="Times New Roman" panose="02020603050405020304" pitchFamily="18" charset="0"/>
              </a:rPr>
              <a:t>/S187775031100007X. </a:t>
            </a:r>
          </a:p>
          <a:p>
            <a:pPr marL="0" indent="0">
              <a:buNone/>
            </a:pPr>
            <a:r>
              <a:rPr lang="en-US" dirty="0">
                <a:latin typeface="Times New Roman" panose="02020603050405020304" pitchFamily="18" charset="0"/>
                <a:cs typeface="Times New Roman" panose="02020603050405020304" pitchFamily="18" charset="0"/>
              </a:rPr>
              <a:t>Fataliyev, </a:t>
            </a:r>
            <a:r>
              <a:rPr lang="en-US" dirty="0" err="1">
                <a:latin typeface="Times New Roman" panose="02020603050405020304" pitchFamily="18" charset="0"/>
                <a:cs typeface="Times New Roman" panose="02020603050405020304" pitchFamily="18" charset="0"/>
              </a:rPr>
              <a:t>Kamaladdin</a:t>
            </a:r>
            <a:r>
              <a:rPr lang="en-US" dirty="0">
                <a:latin typeface="Times New Roman" panose="02020603050405020304" pitchFamily="18" charset="0"/>
                <a:cs typeface="Times New Roman" panose="02020603050405020304" pitchFamily="18" charset="0"/>
              </a:rPr>
              <a:t>. “MCASP: Multi-Modal Cross Attention Network for Stock Market Prediction.” </a:t>
            </a:r>
            <a:r>
              <a:rPr lang="en-US" i="1" dirty="0">
                <a:latin typeface="Times New Roman" panose="02020603050405020304" pitchFamily="18" charset="0"/>
                <a:cs typeface="Times New Roman" panose="02020603050405020304" pitchFamily="18" charset="0"/>
              </a:rPr>
              <a:t>ACL 	Anthology</a:t>
            </a:r>
            <a:r>
              <a:rPr lang="en-US" dirty="0">
                <a:latin typeface="Times New Roman" panose="02020603050405020304" pitchFamily="18" charset="0"/>
                <a:cs typeface="Times New Roman" panose="02020603050405020304" pitchFamily="18" charset="0"/>
              </a:rPr>
              <a:t>, 1 Nov. 2023, https://</a:t>
            </a:r>
            <a:r>
              <a:rPr lang="en-US" dirty="0" err="1">
                <a:latin typeface="Times New Roman" panose="02020603050405020304" pitchFamily="18" charset="0"/>
                <a:cs typeface="Times New Roman" panose="02020603050405020304" pitchFamily="18" charset="0"/>
              </a:rPr>
              <a:t>aclanthology.org</a:t>
            </a:r>
            <a:r>
              <a:rPr lang="en-US" dirty="0">
                <a:latin typeface="Times New Roman" panose="02020603050405020304" pitchFamily="18" charset="0"/>
                <a:cs typeface="Times New Roman" panose="02020603050405020304" pitchFamily="18" charset="0"/>
              </a:rPr>
              <a:t>/2023.alta-1.7/. </a:t>
            </a:r>
          </a:p>
          <a:p>
            <a:pPr marL="0" indent="0">
              <a:buNone/>
            </a:pPr>
            <a:r>
              <a:rPr lang="en-US" dirty="0">
                <a:latin typeface="Times New Roman" panose="02020603050405020304" pitchFamily="18" charset="0"/>
                <a:cs typeface="Times New Roman" panose="02020603050405020304" pitchFamily="18" charset="0"/>
              </a:rPr>
              <a:t>Li, </a:t>
            </a:r>
            <a:r>
              <a:rPr lang="en-US" dirty="0" err="1">
                <a:latin typeface="Times New Roman" panose="02020603050405020304" pitchFamily="18" charset="0"/>
                <a:cs typeface="Times New Roman" panose="02020603050405020304" pitchFamily="18" charset="0"/>
              </a:rPr>
              <a:t>Zhenglin</a:t>
            </a:r>
            <a:r>
              <a:rPr lang="en-US" dirty="0">
                <a:latin typeface="Times New Roman" panose="02020603050405020304" pitchFamily="18" charset="0"/>
                <a:cs typeface="Times New Roman" panose="02020603050405020304" pitchFamily="18" charset="0"/>
              </a:rPr>
              <a:t>. “Stock Market Analysis and Prediction Using LSTM: A Case Study on Technology 	Stocks.” </a:t>
            </a:r>
            <a:r>
              <a:rPr lang="en-US" i="1" dirty="0">
                <a:latin typeface="Times New Roman" panose="02020603050405020304" pitchFamily="18" charset="0"/>
                <a:cs typeface="Times New Roman" panose="02020603050405020304" pitchFamily="18" charset="0"/>
              </a:rPr>
              <a:t>Global Science Publishing</a:t>
            </a:r>
            <a:r>
              <a:rPr lang="en-US" dirty="0">
                <a:latin typeface="Times New Roman" panose="02020603050405020304" pitchFamily="18" charset="0"/>
                <a:cs typeface="Times New Roman" panose="02020603050405020304" pitchFamily="18" charset="0"/>
              </a:rPr>
              <a:t>, 24 Nov. 2023,	https://</a:t>
            </a:r>
            <a:r>
              <a:rPr lang="en-US" dirty="0" err="1">
                <a:latin typeface="Times New Roman" panose="02020603050405020304" pitchFamily="18" charset="0"/>
                <a:cs typeface="Times New Roman" panose="02020603050405020304" pitchFamily="18" charset="0"/>
              </a:rPr>
              <a:t>ojs.sgsci.org</a:t>
            </a:r>
            <a:r>
              <a:rPr lang="en-US" dirty="0">
                <a:latin typeface="Times New Roman" panose="02020603050405020304" pitchFamily="18" charset="0"/>
                <a:cs typeface="Times New Roman" panose="02020603050405020304" pitchFamily="18" charset="0"/>
              </a:rPr>
              <a:t>/journals/</a:t>
            </a:r>
            <a:r>
              <a:rPr lang="en-US" dirty="0" err="1">
                <a:latin typeface="Times New Roman" panose="02020603050405020304" pitchFamily="18" charset="0"/>
                <a:cs typeface="Times New Roman" panose="02020603050405020304" pitchFamily="18" charset="0"/>
              </a:rPr>
              <a:t>iaet</a:t>
            </a:r>
            <a:r>
              <a:rPr lang="en-US" dirty="0">
                <a:latin typeface="Times New Roman" panose="02020603050405020304" pitchFamily="18" charset="0"/>
                <a:cs typeface="Times New Roman" panose="02020603050405020304" pitchFamily="18" charset="0"/>
              </a:rPr>
              <a:t>/article/view/162. </a:t>
            </a:r>
          </a:p>
          <a:p>
            <a:pPr marL="0" indent="0">
              <a:buNone/>
            </a:pPr>
            <a:r>
              <a:rPr lang="en-US" dirty="0">
                <a:latin typeface="Times New Roman" panose="02020603050405020304" pitchFamily="18" charset="0"/>
                <a:cs typeface="Times New Roman" panose="02020603050405020304" pitchFamily="18" charset="0"/>
              </a:rPr>
              <a:t>Misra, Rishabh. “News Category Dataset.” </a:t>
            </a:r>
            <a:r>
              <a:rPr lang="en-US" i="1" dirty="0">
                <a:latin typeface="Times New Roman" panose="02020603050405020304" pitchFamily="18" charset="0"/>
                <a:cs typeface="Times New Roman" panose="02020603050405020304" pitchFamily="18" charset="0"/>
              </a:rPr>
              <a:t>Kaggle</a:t>
            </a:r>
            <a:r>
              <a:rPr lang="en-US" dirty="0">
                <a:latin typeface="Times New Roman" panose="02020603050405020304" pitchFamily="18" charset="0"/>
                <a:cs typeface="Times New Roman" panose="02020603050405020304" pitchFamily="18" charset="0"/>
              </a:rPr>
              <a:t>, 24 Sept. 2022, 	</a:t>
            </a:r>
            <a:r>
              <a:rPr lang="en-US" dirty="0" err="1">
                <a:latin typeface="Times New Roman" panose="02020603050405020304" pitchFamily="18" charset="0"/>
                <a:cs typeface="Times New Roman" panose="02020603050405020304" pitchFamily="18" charset="0"/>
              </a:rPr>
              <a:t>www.kaggle.com</a:t>
            </a:r>
            <a:r>
              <a:rPr lang="en-US" dirty="0">
                <a:latin typeface="Times New Roman" panose="02020603050405020304" pitchFamily="18" charset="0"/>
                <a:cs typeface="Times New Roman" panose="02020603050405020304" pitchFamily="18" charset="0"/>
              </a:rPr>
              <a:t>/datasets/</a:t>
            </a:r>
            <a:r>
              <a:rPr lang="en-US" dirty="0" err="1">
                <a:latin typeface="Times New Roman" panose="02020603050405020304" pitchFamily="18" charset="0"/>
                <a:cs typeface="Times New Roman" panose="02020603050405020304" pitchFamily="18" charset="0"/>
              </a:rPr>
              <a:t>rmisra</a:t>
            </a:r>
            <a:r>
              <a:rPr lang="en-US" dirty="0">
                <a:latin typeface="Times New Roman" panose="02020603050405020304" pitchFamily="18" charset="0"/>
                <a:cs typeface="Times New Roman" panose="02020603050405020304" pitchFamily="18" charset="0"/>
              </a:rPr>
              <a:t>/news-category-dataset/data. </a:t>
            </a:r>
          </a:p>
          <a:p>
            <a:pPr marL="0" indent="0">
              <a:buNone/>
            </a:pP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Yfinance</a:t>
            </a:r>
            <a:r>
              <a:rPr lang="en-US" dirty="0">
                <a:latin typeface="Times New Roman" panose="02020603050405020304" pitchFamily="18" charset="0"/>
                <a:cs typeface="Times New Roman" panose="02020603050405020304" pitchFamily="18" charset="0"/>
              </a:rPr>
              <a:t> Python Package.” </a:t>
            </a:r>
            <a:r>
              <a:rPr lang="en-US" i="1" dirty="0" err="1">
                <a:latin typeface="Times New Roman" panose="02020603050405020304" pitchFamily="18" charset="0"/>
                <a:cs typeface="Times New Roman" panose="02020603050405020304" pitchFamily="18" charset="0"/>
              </a:rPr>
              <a:t>PyPI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pypi.org</a:t>
            </a:r>
            <a:r>
              <a:rPr lang="en-US" dirty="0">
                <a:latin typeface="Times New Roman" panose="02020603050405020304" pitchFamily="18" charset="0"/>
                <a:cs typeface="Times New Roman" panose="02020603050405020304" pitchFamily="18" charset="0"/>
              </a:rPr>
              <a:t>/project/</a:t>
            </a:r>
            <a:r>
              <a:rPr lang="en-US" dirty="0" err="1">
                <a:latin typeface="Times New Roman" panose="02020603050405020304" pitchFamily="18" charset="0"/>
                <a:cs typeface="Times New Roman" panose="02020603050405020304" pitchFamily="18" charset="0"/>
              </a:rPr>
              <a:t>yfinance</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Image Citations</a:t>
            </a:r>
          </a:p>
          <a:p>
            <a:pPr marL="0" indent="0">
              <a:buNone/>
            </a:pPr>
            <a:r>
              <a:rPr lang="en-US" dirty="0">
                <a:latin typeface="Times New Roman" panose="02020603050405020304" pitchFamily="18" charset="0"/>
                <a:cs typeface="Times New Roman" panose="02020603050405020304" pitchFamily="18" charset="0"/>
              </a:rPr>
              <a:t>Chen, James. “Exchange-Traded Fund (ETF): What It Is and How to Invest.” </a:t>
            </a:r>
            <a:r>
              <a:rPr lang="en-US" i="1" dirty="0">
                <a:latin typeface="Times New Roman" panose="02020603050405020304" pitchFamily="18" charset="0"/>
                <a:cs typeface="Times New Roman" panose="02020603050405020304" pitchFamily="18" charset="0"/>
              </a:rPr>
              <a:t>Investopedia</a:t>
            </a:r>
            <a:r>
              <a:rPr lang="en-US" dirty="0">
                <a:latin typeface="Times New Roman" panose="02020603050405020304" pitchFamily="18" charset="0"/>
                <a:cs typeface="Times New Roman" panose="02020603050405020304" pitchFamily="18" charset="0"/>
              </a:rPr>
              <a:t>, Investopedia, 	</a:t>
            </a:r>
            <a:r>
              <a:rPr lang="en-US" dirty="0" err="1">
                <a:latin typeface="Times New Roman" panose="02020603050405020304" pitchFamily="18" charset="0"/>
                <a:cs typeface="Times New Roman" panose="02020603050405020304" pitchFamily="18" charset="0"/>
              </a:rPr>
              <a:t>www.investopedia.com</a:t>
            </a:r>
            <a:r>
              <a:rPr lang="en-US" dirty="0">
                <a:latin typeface="Times New Roman" panose="02020603050405020304" pitchFamily="18" charset="0"/>
                <a:cs typeface="Times New Roman" panose="02020603050405020304" pitchFamily="18" charset="0"/>
              </a:rPr>
              <a:t>/terms/e/</a:t>
            </a:r>
            <a:r>
              <a:rPr lang="en-US" dirty="0" err="1">
                <a:latin typeface="Times New Roman" panose="02020603050405020304" pitchFamily="18" charset="0"/>
                <a:cs typeface="Times New Roman" panose="02020603050405020304" pitchFamily="18" charset="0"/>
              </a:rPr>
              <a:t>etf.asp</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“Huber Loss Function in Machine Learning.” </a:t>
            </a:r>
            <a:r>
              <a:rPr lang="en-US" i="1" dirty="0" err="1">
                <a:latin typeface="Times New Roman" panose="02020603050405020304" pitchFamily="18" charset="0"/>
                <a:cs typeface="Times New Roman" panose="02020603050405020304" pitchFamily="18" charset="0"/>
              </a:rPr>
              <a:t>GeeksforGeeks</a:t>
            </a:r>
            <a:r>
              <a:rPr lang="en-US" dirty="0">
                <a:latin typeface="Times New Roman" panose="02020603050405020304" pitchFamily="18" charset="0"/>
                <a:cs typeface="Times New Roman" panose="02020603050405020304" pitchFamily="18" charset="0"/>
              </a:rPr>
              <a:t>, 1 Aug. 2025, 	</a:t>
            </a:r>
            <a:r>
              <a:rPr lang="en-US" dirty="0" err="1">
                <a:latin typeface="Times New Roman" panose="02020603050405020304" pitchFamily="18" charset="0"/>
                <a:cs typeface="Times New Roman" panose="02020603050405020304" pitchFamily="18" charset="0"/>
              </a:rPr>
              <a:t>www.geeksforgeeks.org</a:t>
            </a:r>
            <a:r>
              <a:rPr lang="en-US" dirty="0">
                <a:latin typeface="Times New Roman" panose="02020603050405020304" pitchFamily="18" charset="0"/>
                <a:cs typeface="Times New Roman" panose="02020603050405020304" pitchFamily="18" charset="0"/>
              </a:rPr>
              <a:t>/machine-learning/</a:t>
            </a:r>
            <a:r>
              <a:rPr lang="en-US" dirty="0" err="1">
                <a:latin typeface="Times New Roman" panose="02020603050405020304" pitchFamily="18" charset="0"/>
                <a:cs typeface="Times New Roman" panose="02020603050405020304" pitchFamily="18" charset="0"/>
              </a:rPr>
              <a:t>huber</a:t>
            </a:r>
            <a:r>
              <a:rPr lang="en-US" dirty="0">
                <a:latin typeface="Times New Roman" panose="02020603050405020304" pitchFamily="18" charset="0"/>
                <a:cs typeface="Times New Roman" panose="02020603050405020304" pitchFamily="18" charset="0"/>
              </a:rPr>
              <a:t>-loss-function-in-machine-learning/. </a:t>
            </a:r>
            <a:endParaRPr lang="en-US" i="1" dirty="0">
              <a:latin typeface="Times New Roman" panose="02020603050405020304" pitchFamily="18" charset="0"/>
              <a:cs typeface="Times New Roman" panose="02020603050405020304" pitchFamily="18" charset="0"/>
            </a:endParaRPr>
          </a:p>
          <a:p>
            <a:pPr marL="0" indent="0">
              <a:buNone/>
            </a:pPr>
            <a:r>
              <a:rPr lang="en-US" i="1" dirty="0">
                <a:latin typeface="Times New Roman" panose="02020603050405020304" pitchFamily="18" charset="0"/>
                <a:cs typeface="Times New Roman" panose="02020603050405020304" pitchFamily="18" charset="0"/>
              </a:rPr>
              <a:t>Stack Overflow</a:t>
            </a:r>
            <a:r>
              <a:rPr lang="en-US" dirty="0">
                <a:latin typeface="Times New Roman" panose="02020603050405020304" pitchFamily="18" charset="0"/>
                <a:cs typeface="Times New Roman" panose="02020603050405020304" pitchFamily="18" charset="0"/>
              </a:rPr>
              <a:t>, https://</a:t>
            </a:r>
            <a:r>
              <a:rPr lang="en-US" dirty="0" err="1">
                <a:latin typeface="Times New Roman" panose="02020603050405020304" pitchFamily="18" charset="0"/>
                <a:cs typeface="Times New Roman" panose="02020603050405020304" pitchFamily="18" charset="0"/>
              </a:rPr>
              <a:t>stackoverflow.com</a:t>
            </a:r>
            <a:r>
              <a:rPr lang="en-US" dirty="0">
                <a:latin typeface="Times New Roman" panose="02020603050405020304" pitchFamily="18" charset="0"/>
                <a:cs typeface="Times New Roman" panose="02020603050405020304" pitchFamily="18" charset="0"/>
              </a:rPr>
              <a:t>/#organization, 27 June 2020, 	</a:t>
            </a:r>
            <a:r>
              <a:rPr lang="en-US" dirty="0" err="1">
                <a:latin typeface="Times New Roman" panose="02020603050405020304" pitchFamily="18" charset="0"/>
                <a:cs typeface="Times New Roman" panose="02020603050405020304" pitchFamily="18" charset="0"/>
              </a:rPr>
              <a:t>stackoverflow.com</a:t>
            </a:r>
            <a:r>
              <a:rPr lang="en-US" dirty="0">
                <a:latin typeface="Times New Roman" panose="02020603050405020304" pitchFamily="18" charset="0"/>
                <a:cs typeface="Times New Roman" panose="02020603050405020304" pitchFamily="18" charset="0"/>
              </a:rPr>
              <a:t>/questions/62600588/visualize-the-stacked-</a:t>
            </a:r>
            <a:r>
              <a:rPr lang="en-US" dirty="0" err="1">
                <a:latin typeface="Times New Roman" panose="02020603050405020304" pitchFamily="18" charset="0"/>
                <a:cs typeface="Times New Roman" panose="02020603050405020304" pitchFamily="18" charset="0"/>
              </a:rPr>
              <a:t>lstm</a:t>
            </a:r>
            <a:r>
              <a:rPr lang="en-US" dirty="0">
                <a:latin typeface="Times New Roman" panose="02020603050405020304" pitchFamily="18" charset="0"/>
                <a:cs typeface="Times New Roman" panose="02020603050405020304" pitchFamily="18" charset="0"/>
              </a:rPr>
              <a:t>.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sz="1700"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Reflection &amp; Lessons Learned</a:t>
            </a:r>
          </a:p>
        </p:txBody>
      </p:sp>
      <p:sp>
        <p:nvSpPr>
          <p:cNvPr id="3" name="Content Placeholder 2"/>
          <p:cNvSpPr>
            <a:spLocks noGrp="1"/>
          </p:cNvSpPr>
          <p:nvPr>
            <p:ph idx="1"/>
          </p:nvPr>
        </p:nvSpPr>
        <p:spPr>
          <a:xfrm>
            <a:off x="457200" y="1600200"/>
            <a:ext cx="8229600" cy="5198533"/>
          </a:xfrm>
        </p:spPr>
        <p:txBody>
          <a:bodyPr>
            <a:normAutofit fontScale="55000" lnSpcReduction="20000"/>
          </a:bodyPr>
          <a:lstStyle/>
          <a:p>
            <a:pPr marL="0" indent="0">
              <a:buNone/>
            </a:pPr>
            <a:r>
              <a:rPr lang="en-US" dirty="0">
                <a:latin typeface="Times New Roman" panose="02020603050405020304" pitchFamily="18" charset="0"/>
                <a:cs typeface="Times New Roman" panose="02020603050405020304" pitchFamily="18" charset="0"/>
              </a:rPr>
              <a:t>I anticipated that the model would very easily overfit and thus be difficult to effectively train. My first attempts at model building had extremely high valuations and test error – the model was overfitting, as expected. Accordingly, I experimented with various regularization techniques (dropout, kernel, recurrent, Huber loss function, etc.) and different regularization strengths to help the model better generalize to unseen data.</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One problem I did not expect to encounter was the difficulty of extracting, cleaning, and merging my two datasets in order to prepare the data for the model. There were extensive preprocessing steps that were far more time consuming than I anticipated. I would estimate that data cleaning and preparation accounted for ~50% of my time spent on this project.  </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Some specific lessons that I learned include:</a:t>
            </a:r>
          </a:p>
          <a:p>
            <a:pPr marL="514350" indent="-514350">
              <a:buAutoNum type="arabicParenBoth"/>
            </a:pPr>
            <a:r>
              <a:rPr lang="en-US" dirty="0">
                <a:latin typeface="Times New Roman" panose="02020603050405020304" pitchFamily="18" charset="0"/>
                <a:cs typeface="Times New Roman" panose="02020603050405020304" pitchFamily="18" charset="0"/>
              </a:rPr>
              <a:t>The importance of selecting regularization techniques. Some ideas helped reduce overfitting, others made the model overfit more. Experimentation, documentation of results, and connecting why each technique produced the results it did greatly helped me during the model building phase. </a:t>
            </a:r>
          </a:p>
          <a:p>
            <a:pPr marL="514350" indent="-514350">
              <a:buAutoNum type="arabicParenBoth"/>
            </a:pPr>
            <a:r>
              <a:rPr lang="en-US" dirty="0">
                <a:latin typeface="Times New Roman" panose="02020603050405020304" pitchFamily="18" charset="0"/>
                <a:cs typeface="Times New Roman" panose="02020603050405020304" pitchFamily="18" charset="0"/>
              </a:rPr>
              <a:t>Financial data is </a:t>
            </a:r>
            <a:r>
              <a:rPr lang="en-US" u="sng" dirty="0">
                <a:latin typeface="Times New Roman" panose="02020603050405020304" pitchFamily="18" charset="0"/>
                <a:cs typeface="Times New Roman" panose="02020603050405020304" pitchFamily="18" charset="0"/>
              </a:rPr>
              <a:t>extremely difficult</a:t>
            </a:r>
            <a:r>
              <a:rPr lang="en-US" dirty="0">
                <a:latin typeface="Times New Roman" panose="02020603050405020304" pitchFamily="18" charset="0"/>
                <a:cs typeface="Times New Roman" panose="02020603050405020304" pitchFamily="18" charset="0"/>
              </a:rPr>
              <a:t> to successfully predict, especially when other variables besides price (returns, daily directional movement, etc.) act as  the response. Predicting prices - although it has limited use in actual trading scenarios – can help answer more analytical questions to help improve trading decisions.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latin typeface="Times New Roman" panose="02020603050405020304" pitchFamily="18" charset="0"/>
                <a:cs typeface="Times New Roman" panose="02020603050405020304" pitchFamily="18" charset="0"/>
              </a:rPr>
              <a:t>AI Tools and Assistance</a:t>
            </a:r>
          </a:p>
        </p:txBody>
      </p:sp>
      <p:sp>
        <p:nvSpPr>
          <p:cNvPr id="3" name="Content Placeholder 2"/>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I used ChatGPT to help me learn specific dynamics of the LSTM model, deepening my understanding of how the model works and allowing me to better apply it to this project.  Specifically, I was unsure how I could achieve an LSTM model that outputs 9 distinct outputs, so I used ChatGPT to understand the model architecture. I verified the AI-generated output by referring to the course textbook in addition. </a:t>
            </a:r>
          </a:p>
          <a:p>
            <a:pPr marL="0" indent="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latin typeface="Times New Roman" panose="02020603050405020304" pitchFamily="18" charset="0"/>
                <a:cs typeface="Times New Roman" panose="02020603050405020304" pitchFamily="18" charset="0"/>
              </a:rPr>
              <a:t>Appendix</a:t>
            </a:r>
            <a:r>
              <a:rPr lang="en-US" sz="3200" dirty="0">
                <a:latin typeface="Times New Roman" panose="02020603050405020304" pitchFamily="18" charset="0"/>
                <a:cs typeface="Times New Roman" panose="02020603050405020304" pitchFamily="18" charset="0"/>
              </a:rPr>
              <a:t>: Attempted Attention Layer Model</a:t>
            </a:r>
            <a:endParaRPr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600201"/>
            <a:ext cx="8229600" cy="1828800"/>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One approach I attempted was to include a multi-head attention layer between the LSTM layers and the dense layers. Attention allows the model to weigh the impact of different parts of the input sequences on the response. This ideally would have allowed for more in-depth modeling of inter-sector dependencies by furthering the model’s ability to weigh different sectors’ impacts upon the others. </a:t>
            </a:r>
          </a:p>
          <a:p>
            <a:pPr marL="0" indent="0">
              <a:buNone/>
            </a:pPr>
            <a:r>
              <a:rPr lang="en-US" sz="1800" dirty="0">
                <a:latin typeface="Times New Roman" panose="02020603050405020304" pitchFamily="18" charset="0"/>
                <a:cs typeface="Times New Roman" panose="02020603050405020304" pitchFamily="18" charset="0"/>
              </a:rPr>
              <a:t>When fitting this model, the following training curve was produced. </a:t>
            </a:r>
          </a:p>
        </p:txBody>
      </p:sp>
      <p:pic>
        <p:nvPicPr>
          <p:cNvPr id="6" name="Picture 5" descr="A graph with lines and numbers&#10;&#10;AI-generated content may be incorrect.">
            <a:extLst>
              <a:ext uri="{FF2B5EF4-FFF2-40B4-BE49-F238E27FC236}">
                <a16:creationId xmlns:a16="http://schemas.microsoft.com/office/drawing/2014/main" id="{3E5C0B81-3A13-0000-412C-597089098F98}"/>
              </a:ext>
            </a:extLst>
          </p:cNvPr>
          <p:cNvPicPr>
            <a:picLocks noChangeAspect="1"/>
          </p:cNvPicPr>
          <p:nvPr/>
        </p:nvPicPr>
        <p:blipFill>
          <a:blip r:embed="rId2"/>
          <a:srcRect l="4779" r="46187"/>
          <a:stretch>
            <a:fillRect/>
          </a:stretch>
        </p:blipFill>
        <p:spPr>
          <a:xfrm>
            <a:off x="323230" y="3333307"/>
            <a:ext cx="3749040" cy="3108960"/>
          </a:xfrm>
          <a:prstGeom prst="rect">
            <a:avLst/>
          </a:prstGeom>
        </p:spPr>
      </p:pic>
      <p:sp>
        <p:nvSpPr>
          <p:cNvPr id="7" name="Content Placeholder 2">
            <a:extLst>
              <a:ext uri="{FF2B5EF4-FFF2-40B4-BE49-F238E27FC236}">
                <a16:creationId xmlns:a16="http://schemas.microsoft.com/office/drawing/2014/main" id="{304EBE08-7E62-01C9-7F9D-166B0A3AAFC7}"/>
              </a:ext>
            </a:extLst>
          </p:cNvPr>
          <p:cNvSpPr txBox="1">
            <a:spLocks/>
          </p:cNvSpPr>
          <p:nvPr/>
        </p:nvSpPr>
        <p:spPr>
          <a:xfrm>
            <a:off x="3721395" y="3650586"/>
            <a:ext cx="4965405" cy="2926397"/>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1800" dirty="0">
                <a:latin typeface="Times New Roman" panose="02020603050405020304" pitchFamily="18" charset="0"/>
                <a:cs typeface="Times New Roman" panose="02020603050405020304" pitchFamily="18" charset="0"/>
              </a:rPr>
              <a:t>The model with the attention layer greatly overfit the data, even with immense regularization. This is likely due to the extreme increase in model complexity as an effect of the attention layer. The increased number of weights may have made it easy for the model to learn noise, as the training loss consistently decreased while the validation loss plateaued early into training.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3840</TotalTime>
  <Words>2180</Words>
  <Application>Microsoft Macintosh PowerPoint</Application>
  <PresentationFormat>On-screen Show (4:3)</PresentationFormat>
  <Paragraphs>159</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 Math</vt:lpstr>
      <vt:lpstr>Times New Roman</vt:lpstr>
      <vt:lpstr>Wingdings</vt:lpstr>
      <vt:lpstr>Office Theme</vt:lpstr>
      <vt:lpstr>Predicting Market Sector ETF Prices with a Sequential Neural Network</vt:lpstr>
      <vt:lpstr>Background</vt:lpstr>
      <vt:lpstr>Technical Motivation</vt:lpstr>
      <vt:lpstr>Technical Motivation, cont.</vt:lpstr>
      <vt:lpstr>Market Sector ETFs </vt:lpstr>
      <vt:lpstr>Dataset Overview</vt:lpstr>
      <vt:lpstr>Approach Overview</vt:lpstr>
      <vt:lpstr>Model Architecture &amp; Design Choices</vt:lpstr>
      <vt:lpstr>Experimental Setup</vt:lpstr>
      <vt:lpstr>Key Results</vt:lpstr>
      <vt:lpstr>Visualization 1: Training Curve</vt:lpstr>
      <vt:lpstr>Visualization 2: Test Period Predictions</vt:lpstr>
      <vt:lpstr>Visualization 3: Comparing model performance with and without sentiment features</vt:lpstr>
      <vt:lpstr>Insights &amp; Limitations</vt:lpstr>
      <vt:lpstr>Conclusion</vt:lpstr>
      <vt:lpstr>References</vt:lpstr>
      <vt:lpstr>Reflection &amp; Lessons Learned</vt:lpstr>
      <vt:lpstr>AI Tools and Assistance</vt:lpstr>
      <vt:lpstr>Appendix: Attempted Attention Layer Model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Hayden Philip Sterling</cp:lastModifiedBy>
  <cp:revision>14</cp:revision>
  <dcterms:created xsi:type="dcterms:W3CDTF">2013-01-27T09:14:16Z</dcterms:created>
  <dcterms:modified xsi:type="dcterms:W3CDTF">2025-12-10T14:26:57Z</dcterms:modified>
  <cp:category/>
</cp:coreProperties>
</file>