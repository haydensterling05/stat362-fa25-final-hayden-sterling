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1" r:id="rId4"/>
    <p:sldId id="274" r:id="rId5"/>
    <p:sldId id="272" r:id="rId6"/>
    <p:sldId id="273" r:id="rId7"/>
    <p:sldId id="259" r:id="rId8"/>
    <p:sldId id="260" r:id="rId9"/>
    <p:sldId id="261" r:id="rId10"/>
    <p:sldId id="262" r:id="rId11"/>
    <p:sldId id="275" r:id="rId12"/>
    <p:sldId id="276" r:id="rId13"/>
    <p:sldId id="263" r:id="rId14"/>
    <p:sldId id="264" r:id="rId15"/>
    <p:sldId id="269" r:id="rId16"/>
    <p:sldId id="267" r:id="rId17"/>
    <p:sldId id="265" r:id="rId18"/>
    <p:sldId id="266" r:id="rId19"/>
    <p:sldId id="268"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806"/>
    <p:restoredTop sz="94655"/>
  </p:normalViewPr>
  <p:slideViewPr>
    <p:cSldViewPr snapToGrid="0" snapToObjects="1">
      <p:cViewPr varScale="1">
        <p:scale>
          <a:sx n="150" d="100"/>
          <a:sy n="150" d="100"/>
        </p:scale>
        <p:origin x="1144" y="16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12/8/25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12/8/25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12/8/25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12/8/25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12/8/25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s://github.com/cjhutto/vaderSentiment"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305589"/>
            <a:ext cx="7772400" cy="1470025"/>
          </a:xfrm>
        </p:spPr>
        <p:txBody>
          <a:bodyPr>
            <a:normAutofit fontScale="90000"/>
          </a:bodyPr>
          <a:lstStyle/>
          <a:p>
            <a:r>
              <a:rPr lang="en-US" dirty="0">
                <a:latin typeface="Times New Roman" panose="02020603050405020304" pitchFamily="18" charset="0"/>
                <a:cs typeface="Times New Roman" panose="02020603050405020304" pitchFamily="18" charset="0"/>
              </a:rPr>
              <a:t>Predicting Market Sector ETF Prices with a Sequential Neural Network</a:t>
            </a:r>
            <a:endParaRPr dirty="0">
              <a:latin typeface="Times New Roman" panose="02020603050405020304" pitchFamily="18" charset="0"/>
              <a:cs typeface="Times New Roman" panose="02020603050405020304" pitchFamily="18" charset="0"/>
            </a:endParaRPr>
          </a:p>
        </p:txBody>
      </p:sp>
      <p:sp>
        <p:nvSpPr>
          <p:cNvPr id="3" name="Subtitle 2"/>
          <p:cNvSpPr>
            <a:spLocks noGrp="1"/>
          </p:cNvSpPr>
          <p:nvPr>
            <p:ph type="subTitle" idx="1"/>
          </p:nvPr>
        </p:nvSpPr>
        <p:spPr>
          <a:xfrm>
            <a:off x="1371600" y="3369339"/>
            <a:ext cx="6400800" cy="1752600"/>
          </a:xfrm>
        </p:spPr>
        <p:txBody>
          <a:bodyPr/>
          <a:lstStyle/>
          <a:p>
            <a:pPr algn="l"/>
            <a:r>
              <a:rPr lang="en-US" dirty="0">
                <a:latin typeface="Times New Roman" panose="02020603050405020304" pitchFamily="18" charset="0"/>
                <a:cs typeface="Times New Roman" panose="02020603050405020304" pitchFamily="18" charset="0"/>
              </a:rPr>
              <a:t>Hayden Sterling</a:t>
            </a:r>
          </a:p>
          <a:p>
            <a:pPr algn="l"/>
            <a:r>
              <a:rPr lang="en-US" dirty="0">
                <a:latin typeface="Times New Roman" panose="02020603050405020304" pitchFamily="18" charset="0"/>
                <a:cs typeface="Times New Roman" panose="02020603050405020304" pitchFamily="18" charset="0"/>
              </a:rPr>
              <a:t>Statistics 362</a:t>
            </a:r>
          </a:p>
          <a:p>
            <a:pPr algn="l"/>
            <a:r>
              <a:rPr lang="en-US" dirty="0">
                <a:latin typeface="Times New Roman" panose="02020603050405020304" pitchFamily="18" charset="0"/>
                <a:cs typeface="Times New Roman" panose="02020603050405020304" pitchFamily="18" charset="0"/>
              </a:rPr>
              <a:t>Fall 2025</a:t>
            </a:r>
          </a:p>
        </p:txBody>
      </p:sp>
      <p:pic>
        <p:nvPicPr>
          <p:cNvPr id="5" name="Picture 4" descr="A qr code on a white background&#10;&#10;AI-generated content may be incorrect.">
            <a:extLst>
              <a:ext uri="{FF2B5EF4-FFF2-40B4-BE49-F238E27FC236}">
                <a16:creationId xmlns:a16="http://schemas.microsoft.com/office/drawing/2014/main" id="{2DF6FDB7-6E89-729F-47E5-BE4905C89410}"/>
              </a:ext>
            </a:extLst>
          </p:cNvPr>
          <p:cNvPicPr>
            <a:picLocks noChangeAspect="1"/>
          </p:cNvPicPr>
          <p:nvPr/>
        </p:nvPicPr>
        <p:blipFill>
          <a:blip r:embed="rId2"/>
          <a:stretch>
            <a:fillRect/>
          </a:stretch>
        </p:blipFill>
        <p:spPr>
          <a:xfrm>
            <a:off x="5140841" y="2903205"/>
            <a:ext cx="2999711" cy="299971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lang="en-US" dirty="0">
                <a:latin typeface="Times New Roman" panose="02020603050405020304" pitchFamily="18" charset="0"/>
                <a:cs typeface="Times New Roman" panose="02020603050405020304" pitchFamily="18" charset="0"/>
              </a:rPr>
              <a:t>Background</a:t>
            </a:r>
            <a:endParaRPr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457200" y="1600200"/>
            <a:ext cx="8229600" cy="4983162"/>
          </a:xfrm>
        </p:spPr>
        <p:txBody>
          <a:bodyPr>
            <a:noAutofit/>
          </a:bodyPr>
          <a:lstStyle/>
          <a:p>
            <a:r>
              <a:rPr lang="en-US" sz="1800" b="1" dirty="0">
                <a:latin typeface="Times New Roman" panose="02020603050405020304" pitchFamily="18" charset="0"/>
                <a:cs typeface="Times New Roman" panose="02020603050405020304" pitchFamily="18" charset="0"/>
              </a:rPr>
              <a:t>Exchange-Traded Funds (ETFs) </a:t>
            </a:r>
            <a:r>
              <a:rPr lang="en-US" sz="1800" dirty="0">
                <a:latin typeface="Times New Roman" panose="02020603050405020304" pitchFamily="18" charset="0"/>
                <a:cs typeface="Times New Roman" panose="02020603050405020304" pitchFamily="18" charset="0"/>
              </a:rPr>
              <a:t>track the aggregated performance of an entire sector through a weighted average. </a:t>
            </a:r>
          </a:p>
          <a:p>
            <a:r>
              <a:rPr lang="en-US" sz="1800" u="sng" dirty="0">
                <a:latin typeface="Times New Roman" panose="02020603050405020304" pitchFamily="18" charset="0"/>
                <a:cs typeface="Times New Roman" panose="02020603050405020304" pitchFamily="18" charset="0"/>
              </a:rPr>
              <a:t>Two key considerations </a:t>
            </a:r>
            <a:r>
              <a:rPr lang="en-US" sz="1800" dirty="0">
                <a:latin typeface="Times New Roman" panose="02020603050405020304" pitchFamily="18" charset="0"/>
                <a:cs typeface="Times New Roman" panose="02020603050405020304" pitchFamily="18" charset="0"/>
              </a:rPr>
              <a:t>when analyzing market fluctuations: </a:t>
            </a:r>
          </a:p>
          <a:p>
            <a:pPr marL="457200" lvl="1" indent="0">
              <a:buNone/>
            </a:pPr>
            <a:r>
              <a:rPr lang="en-US" sz="1800" dirty="0">
                <a:latin typeface="Times New Roman" panose="02020603050405020304" pitchFamily="18" charset="0"/>
                <a:cs typeface="Times New Roman" panose="02020603050405020304" pitchFamily="18" charset="0"/>
              </a:rPr>
              <a:t>1. Sector performance is driven by a range of factors - prior price, investor sentiment, macroeconomic conditions, etc.</a:t>
            </a:r>
          </a:p>
          <a:p>
            <a:pPr marL="457200" lvl="1" indent="0">
              <a:buNone/>
            </a:pPr>
            <a:r>
              <a:rPr lang="en-US" sz="1800" dirty="0">
                <a:latin typeface="Times New Roman" panose="02020603050405020304" pitchFamily="18" charset="0"/>
                <a:cs typeface="Times New Roman" panose="02020603050405020304" pitchFamily="18" charset="0"/>
              </a:rPr>
              <a:t>2. Sectors do not move independently of one another (ex. the oil industry). </a:t>
            </a:r>
            <a:endParaRPr lang="en-US" sz="1800" b="1" dirty="0">
              <a:latin typeface="Times New Roman" panose="02020603050405020304" pitchFamily="18" charset="0"/>
              <a:cs typeface="Times New Roman" panose="02020603050405020304" pitchFamily="18" charset="0"/>
            </a:endParaRPr>
          </a:p>
          <a:p>
            <a:endParaRPr sz="1800"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C66D592B-1B9F-82EA-5886-8B2C212A1BF8}"/>
              </a:ext>
            </a:extLst>
          </p:cNvPr>
          <p:cNvPicPr>
            <a:picLocks noChangeAspect="1"/>
          </p:cNvPicPr>
          <p:nvPr/>
        </p:nvPicPr>
        <p:blipFill>
          <a:blip r:embed="rId2"/>
          <a:stretch>
            <a:fillRect/>
          </a:stretch>
        </p:blipFill>
        <p:spPr>
          <a:xfrm>
            <a:off x="2541494" y="3752725"/>
            <a:ext cx="4061012" cy="2707341"/>
          </a:xfrm>
          <a:prstGeom prst="rect">
            <a:avLst/>
          </a:prstGeom>
        </p:spPr>
      </p:pic>
      <p:sp>
        <p:nvSpPr>
          <p:cNvPr id="5" name="TextBox 4">
            <a:extLst>
              <a:ext uri="{FF2B5EF4-FFF2-40B4-BE49-F238E27FC236}">
                <a16:creationId xmlns:a16="http://schemas.microsoft.com/office/drawing/2014/main" id="{8E8802DF-063E-1456-D51E-7D4540F230E9}"/>
              </a:ext>
            </a:extLst>
          </p:cNvPr>
          <p:cNvSpPr txBox="1"/>
          <p:nvPr/>
        </p:nvSpPr>
        <p:spPr>
          <a:xfrm>
            <a:off x="2541494" y="6460066"/>
            <a:ext cx="989106" cy="276999"/>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(Chen)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A5754-7EDD-A9D1-D220-93B5FA7D69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91925D-AE49-039A-48C0-F331AFA29E32}"/>
              </a:ext>
            </a:extLst>
          </p:cNvPr>
          <p:cNvSpPr>
            <a:spLocks noGrp="1"/>
          </p:cNvSpPr>
          <p:nvPr>
            <p:ph type="title"/>
          </p:nvPr>
        </p:nvSpPr>
        <p:spPr/>
        <p:txBody>
          <a:bodyPr/>
          <a:lstStyle/>
          <a:p>
            <a:pPr algn="l"/>
            <a:r>
              <a:rPr lang="en-US" dirty="0">
                <a:latin typeface="Times New Roman" panose="02020603050405020304" pitchFamily="18" charset="0"/>
                <a:cs typeface="Times New Roman" panose="02020603050405020304" pitchFamily="18" charset="0"/>
              </a:rPr>
              <a:t>Technical Motivation</a:t>
            </a:r>
            <a:endParaRPr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B7A60F1F-F247-1F53-9ACE-1555E194A42B}"/>
              </a:ext>
            </a:extLst>
          </p:cNvPr>
          <p:cNvSpPr>
            <a:spLocks noGrp="1"/>
          </p:cNvSpPr>
          <p:nvPr>
            <p:ph idx="1"/>
          </p:nvPr>
        </p:nvSpPr>
        <p:spPr>
          <a:xfrm>
            <a:off x="457200" y="1196163"/>
            <a:ext cx="8389088" cy="1259958"/>
          </a:xfrm>
        </p:spPr>
        <p:txBody>
          <a:bodyPr>
            <a:normAutofit/>
          </a:bodyPr>
          <a:lstStyle/>
          <a:p>
            <a:r>
              <a:rPr lang="en-US" sz="1600" dirty="0">
                <a:latin typeface="Times New Roman" panose="02020603050405020304" pitchFamily="18" charset="0"/>
                <a:cs typeface="Times New Roman" panose="02020603050405020304" pitchFamily="18" charset="0"/>
              </a:rPr>
              <a:t>LSTM models have historically been successful in forecasting </a:t>
            </a:r>
            <a:r>
              <a:rPr lang="en-US" sz="1600" b="1" dirty="0">
                <a:latin typeface="Times New Roman" panose="02020603050405020304" pitchFamily="18" charset="0"/>
                <a:cs typeface="Times New Roman" panose="02020603050405020304" pitchFamily="18" charset="0"/>
              </a:rPr>
              <a:t>individual stock price </a:t>
            </a:r>
            <a:r>
              <a:rPr lang="en-US" sz="1600" dirty="0">
                <a:latin typeface="Times New Roman" panose="02020603050405020304" pitchFamily="18" charset="0"/>
                <a:cs typeface="Times New Roman" panose="02020603050405020304" pitchFamily="18" charset="0"/>
              </a:rPr>
              <a:t>(Li).</a:t>
            </a:r>
          </a:p>
          <a:p>
            <a:r>
              <a:rPr lang="en-US" sz="1600" dirty="0">
                <a:latin typeface="Times New Roman" panose="02020603050405020304" pitchFamily="18" charset="0"/>
                <a:cs typeface="Times New Roman" panose="02020603050405020304" pitchFamily="18" charset="0"/>
              </a:rPr>
              <a:t>Although predicting future prices (as opposed to returns) has limited value in trading stocks, it instead helps answer analytical questions such as: does previous market information have predictive power over future prices?</a:t>
            </a:r>
          </a:p>
          <a:p>
            <a:pPr marL="457200" lvl="1" indent="0">
              <a:buNone/>
            </a:pPr>
            <a:endParaRPr lang="en-US" sz="1600" b="1" dirty="0">
              <a:latin typeface="Times New Roman" panose="02020603050405020304" pitchFamily="18" charset="0"/>
              <a:cs typeface="Times New Roman" panose="02020603050405020304" pitchFamily="18" charset="0"/>
            </a:endParaRPr>
          </a:p>
          <a:p>
            <a:endParaRPr sz="1600" dirty="0">
              <a:latin typeface="Times New Roman" panose="02020603050405020304" pitchFamily="18" charset="0"/>
              <a:cs typeface="Times New Roman" panose="02020603050405020304" pitchFamily="18" charset="0"/>
            </a:endParaRPr>
          </a:p>
        </p:txBody>
      </p:sp>
      <p:pic>
        <p:nvPicPr>
          <p:cNvPr id="7" name="Picture 6" descr="A graph of a graph showing different colored lines&#10;&#10;AI-generated content may be incorrect.">
            <a:extLst>
              <a:ext uri="{FF2B5EF4-FFF2-40B4-BE49-F238E27FC236}">
                <a16:creationId xmlns:a16="http://schemas.microsoft.com/office/drawing/2014/main" id="{63994A45-0781-60BE-6D2A-CED4B33DBC86}"/>
              </a:ext>
            </a:extLst>
          </p:cNvPr>
          <p:cNvPicPr>
            <a:picLocks noChangeAspect="1"/>
          </p:cNvPicPr>
          <p:nvPr/>
        </p:nvPicPr>
        <p:blipFill>
          <a:blip r:embed="rId2"/>
          <a:stretch>
            <a:fillRect/>
          </a:stretch>
        </p:blipFill>
        <p:spPr>
          <a:xfrm>
            <a:off x="4651744" y="3101778"/>
            <a:ext cx="4306548" cy="2153274"/>
          </a:xfrm>
          <a:prstGeom prst="rect">
            <a:avLst/>
          </a:prstGeom>
        </p:spPr>
      </p:pic>
      <p:sp>
        <p:nvSpPr>
          <p:cNvPr id="8" name="TextBox 7">
            <a:extLst>
              <a:ext uri="{FF2B5EF4-FFF2-40B4-BE49-F238E27FC236}">
                <a16:creationId xmlns:a16="http://schemas.microsoft.com/office/drawing/2014/main" id="{4400C468-30C5-3B01-9738-043430191B0C}"/>
              </a:ext>
            </a:extLst>
          </p:cNvPr>
          <p:cNvSpPr txBox="1"/>
          <p:nvPr/>
        </p:nvSpPr>
        <p:spPr>
          <a:xfrm>
            <a:off x="457200" y="2417477"/>
            <a:ext cx="4401879" cy="3539430"/>
          </a:xfrm>
          <a:prstGeom prst="rect">
            <a:avLst/>
          </a:prstGeom>
          <a:noFill/>
        </p:spPr>
        <p:txBody>
          <a:bodyPr wrap="square" rtlCol="0">
            <a:spAutoFit/>
          </a:bodyPr>
          <a:lstStyle/>
          <a:p>
            <a:r>
              <a:rPr lang="en-US" sz="1600" b="1" dirty="0">
                <a:latin typeface="Times New Roman" panose="02020603050405020304" pitchFamily="18" charset="0"/>
                <a:cs typeface="Times New Roman" panose="02020603050405020304" pitchFamily="18" charset="0"/>
              </a:rPr>
              <a:t>Main goal:</a:t>
            </a:r>
            <a:r>
              <a:rPr lang="en-US" sz="1600" dirty="0">
                <a:latin typeface="Times New Roman" panose="02020603050405020304" pitchFamily="18" charset="0"/>
                <a:cs typeface="Times New Roman" panose="02020603050405020304" pitchFamily="18" charset="0"/>
              </a:rPr>
              <a:t> This project investigates whether the task of forecasting an individual stock can be expanded to forecasting multiple markets through their sectors ETFs jointly in one, unified model. </a:t>
            </a:r>
          </a:p>
          <a:p>
            <a:pPr marL="285750" indent="-285750">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Specifically, the model will account for the </a:t>
            </a:r>
            <a:r>
              <a:rPr lang="en-US" sz="1600" b="1" dirty="0">
                <a:latin typeface="Times New Roman" panose="02020603050405020304" pitchFamily="18" charset="0"/>
                <a:cs typeface="Times New Roman" panose="02020603050405020304" pitchFamily="18" charset="0"/>
              </a:rPr>
              <a:t>interdependency of markets</a:t>
            </a:r>
            <a:r>
              <a:rPr lang="en-US" sz="1600" dirty="0">
                <a:latin typeface="Times New Roman" panose="02020603050405020304" pitchFamily="18" charset="0"/>
                <a:cs typeface="Times New Roman" panose="02020603050405020304" pitchFamily="18" charset="0"/>
              </a:rPr>
              <a:t> through shared multivariate impacts -  each sector’s features (prices, volumes, etc.) can influence the predictions of another sector. </a:t>
            </a:r>
          </a:p>
          <a:p>
            <a:pPr marL="285750" indent="-285750">
              <a:buFont typeface="Arial" panose="020B0604020202020204" pitchFamily="34" charset="0"/>
              <a:buChar char="•"/>
            </a:pPr>
            <a:r>
              <a:rPr lang="en-US" sz="1600" dirty="0">
                <a:latin typeface="Times New Roman" panose="02020603050405020304" pitchFamily="18" charset="0"/>
                <a:cs typeface="Times New Roman" panose="02020603050405020304" pitchFamily="18" charset="0"/>
              </a:rPr>
              <a:t>This is a </a:t>
            </a:r>
            <a:r>
              <a:rPr lang="en-US" sz="1600" b="1" dirty="0">
                <a:latin typeface="Times New Roman" panose="02020603050405020304" pitchFamily="18" charset="0"/>
                <a:cs typeface="Times New Roman" panose="02020603050405020304" pitchFamily="18" charset="0"/>
              </a:rPr>
              <a:t>multivariate</a:t>
            </a:r>
            <a:r>
              <a:rPr lang="en-US" sz="1600" dirty="0">
                <a:latin typeface="Times New Roman" panose="02020603050405020304" pitchFamily="18" charset="0"/>
                <a:cs typeface="Times New Roman" panose="02020603050405020304" pitchFamily="18" charset="0"/>
              </a:rPr>
              <a:t> </a:t>
            </a:r>
            <a:r>
              <a:rPr lang="en-US" sz="1600" b="1" dirty="0">
                <a:latin typeface="Times New Roman" panose="02020603050405020304" pitchFamily="18" charset="0"/>
                <a:cs typeface="Times New Roman" panose="02020603050405020304" pitchFamily="18" charset="0"/>
              </a:rPr>
              <a:t>regression problem </a:t>
            </a:r>
            <a:r>
              <a:rPr lang="en-US" sz="1600" dirty="0">
                <a:latin typeface="Times New Roman" panose="02020603050405020304" pitchFamily="18" charset="0"/>
                <a:cs typeface="Times New Roman" panose="02020603050405020304" pitchFamily="18" charset="0"/>
              </a:rPr>
              <a:t>attempting to predict a 9-dimensional vector, representing the next-day prices of nine sector ETFs. </a:t>
            </a:r>
          </a:p>
          <a:p>
            <a:endParaRPr lang="en-US" sz="1600" dirty="0"/>
          </a:p>
        </p:txBody>
      </p:sp>
    </p:spTree>
    <p:extLst>
      <p:ext uri="{BB962C8B-B14F-4D97-AF65-F5344CB8AC3E}">
        <p14:creationId xmlns:p14="http://schemas.microsoft.com/office/powerpoint/2010/main" val="24029742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3F5861-63A3-CE90-F711-95EDB6D24C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2D52EF-EE3A-17DF-F7C7-7E03CEAC91E8}"/>
              </a:ext>
            </a:extLst>
          </p:cNvPr>
          <p:cNvSpPr>
            <a:spLocks noGrp="1"/>
          </p:cNvSpPr>
          <p:nvPr>
            <p:ph type="title"/>
          </p:nvPr>
        </p:nvSpPr>
        <p:spPr/>
        <p:txBody>
          <a:bodyPr/>
          <a:lstStyle/>
          <a:p>
            <a:pPr algn="l"/>
            <a:r>
              <a:rPr lang="en-US" dirty="0">
                <a:latin typeface="Times New Roman" panose="02020603050405020304" pitchFamily="18" charset="0"/>
                <a:cs typeface="Times New Roman" panose="02020603050405020304" pitchFamily="18" charset="0"/>
              </a:rPr>
              <a:t>Technical Motivation, cont.</a:t>
            </a:r>
          </a:p>
        </p:txBody>
      </p:sp>
      <p:sp>
        <p:nvSpPr>
          <p:cNvPr id="3" name="Content Placeholder 2">
            <a:extLst>
              <a:ext uri="{FF2B5EF4-FFF2-40B4-BE49-F238E27FC236}">
                <a16:creationId xmlns:a16="http://schemas.microsoft.com/office/drawing/2014/main" id="{E193F4A8-4EF6-7258-3B0E-F537F3BE37FF}"/>
              </a:ext>
            </a:extLst>
          </p:cNvPr>
          <p:cNvSpPr>
            <a:spLocks noGrp="1"/>
          </p:cNvSpPr>
          <p:nvPr>
            <p:ph idx="1"/>
          </p:nvPr>
        </p:nvSpPr>
        <p:spPr>
          <a:xfrm>
            <a:off x="457200" y="1600200"/>
            <a:ext cx="8229600" cy="1976438"/>
          </a:xfrm>
        </p:spPr>
        <p:txBody>
          <a:bodyPr>
            <a:normAutofit/>
          </a:bodyPr>
          <a:lstStyle/>
          <a:p>
            <a:pPr marL="0" indent="0">
              <a:buNone/>
            </a:pPr>
            <a:r>
              <a:rPr lang="en-US" sz="1800" dirty="0">
                <a:latin typeface="Times New Roman" panose="02020603050405020304" pitchFamily="18" charset="0"/>
                <a:cs typeface="Times New Roman" panose="02020603050405020304" pitchFamily="18" charset="0"/>
              </a:rPr>
              <a:t>Additionally, to account for the wide range of factors influencing future stock prices, I include </a:t>
            </a:r>
            <a:r>
              <a:rPr lang="en-US" sz="1800" b="1" dirty="0">
                <a:latin typeface="Times New Roman" panose="02020603050405020304" pitchFamily="18" charset="0"/>
                <a:cs typeface="Times New Roman" panose="02020603050405020304" pitchFamily="18" charset="0"/>
              </a:rPr>
              <a:t>news sentiment data </a:t>
            </a:r>
            <a:r>
              <a:rPr lang="en-US" sz="1800" dirty="0">
                <a:latin typeface="Times New Roman" panose="02020603050405020304" pitchFamily="18" charset="0"/>
                <a:cs typeface="Times New Roman" panose="02020603050405020304" pitchFamily="18" charset="0"/>
              </a:rPr>
              <a:t>as part of the features to model how investor sentiment affects market prices.</a:t>
            </a:r>
          </a:p>
          <a:p>
            <a:pPr marL="0" indent="0">
              <a:buNone/>
            </a:pPr>
            <a:endParaRPr lang="en-US" sz="1800" dirty="0">
              <a:latin typeface="Times New Roman" panose="02020603050405020304" pitchFamily="18" charset="0"/>
              <a:cs typeface="Times New Roman" panose="02020603050405020304" pitchFamily="18" charset="0"/>
            </a:endParaRPr>
          </a:p>
          <a:p>
            <a:pPr marL="0" indent="0">
              <a:buNone/>
            </a:pPr>
            <a:r>
              <a:rPr lang="en-US" sz="1800" dirty="0">
                <a:latin typeface="Times New Roman" panose="02020603050405020304" pitchFamily="18" charset="0"/>
                <a:cs typeface="Times New Roman" panose="02020603050405020304" pitchFamily="18" charset="0"/>
              </a:rPr>
              <a:t>A </a:t>
            </a:r>
            <a:r>
              <a:rPr lang="en-US" sz="1800" b="1" dirty="0">
                <a:latin typeface="Times New Roman" panose="02020603050405020304" pitchFamily="18" charset="0"/>
                <a:cs typeface="Times New Roman" panose="02020603050405020304" pitchFamily="18" charset="0"/>
              </a:rPr>
              <a:t>secondary goal </a:t>
            </a:r>
            <a:r>
              <a:rPr lang="en-US" sz="1800" dirty="0">
                <a:latin typeface="Times New Roman" panose="02020603050405020304" pitchFamily="18" charset="0"/>
                <a:cs typeface="Times New Roman" panose="02020603050405020304" pitchFamily="18" charset="0"/>
              </a:rPr>
              <a:t>is thus to determine the effect (if any) that news sentiments exert on stock prices.</a:t>
            </a:r>
          </a:p>
          <a:p>
            <a:pPr marL="0" indent="0">
              <a:buNone/>
            </a:pPr>
            <a:endParaRPr lang="en-US" sz="1800" b="1" dirty="0">
              <a:latin typeface="Times New Roman" panose="02020603050405020304" pitchFamily="18" charset="0"/>
              <a:cs typeface="Times New Roman" panose="02020603050405020304" pitchFamily="18" charset="0"/>
            </a:endParaRPr>
          </a:p>
          <a:p>
            <a:endParaRPr lang="en-US" sz="1800"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ED49DC26-6248-E667-95CB-8BE3121A5BBE}"/>
              </a:ext>
            </a:extLst>
          </p:cNvPr>
          <p:cNvPicPr>
            <a:picLocks noChangeAspect="1"/>
          </p:cNvPicPr>
          <p:nvPr/>
        </p:nvPicPr>
        <p:blipFill>
          <a:blip r:embed="rId2"/>
          <a:stretch>
            <a:fillRect/>
          </a:stretch>
        </p:blipFill>
        <p:spPr>
          <a:xfrm>
            <a:off x="1755258" y="3576638"/>
            <a:ext cx="5633483" cy="2816742"/>
          </a:xfrm>
          <a:prstGeom prst="rect">
            <a:avLst/>
          </a:prstGeom>
        </p:spPr>
      </p:pic>
    </p:spTree>
    <p:extLst>
      <p:ext uri="{BB962C8B-B14F-4D97-AF65-F5344CB8AC3E}">
        <p14:creationId xmlns:p14="http://schemas.microsoft.com/office/powerpoint/2010/main" val="41507410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DE80D-F911-2A1A-7F1A-8C1BAC3B2D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A58F4F-8D1A-8118-7071-EE4FA9A3AF66}"/>
              </a:ext>
            </a:extLst>
          </p:cNvPr>
          <p:cNvSpPr>
            <a:spLocks noGrp="1"/>
          </p:cNvSpPr>
          <p:nvPr>
            <p:ph type="title"/>
          </p:nvPr>
        </p:nvSpPr>
        <p:spPr/>
        <p:txBody>
          <a:bodyPr/>
          <a:lstStyle/>
          <a:p>
            <a:pPr algn="l"/>
            <a:r>
              <a:rPr lang="en-US" dirty="0">
                <a:latin typeface="Times New Roman" panose="02020603050405020304" pitchFamily="18" charset="0"/>
                <a:cs typeface="Times New Roman" panose="02020603050405020304" pitchFamily="18" charset="0"/>
              </a:rPr>
              <a:t>Market Sector ETFs </a:t>
            </a:r>
            <a:endParaRPr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BFB7516B-8161-8127-1144-06D5455A93C4}"/>
              </a:ext>
            </a:extLst>
          </p:cNvPr>
          <p:cNvSpPr>
            <a:spLocks noGrp="1"/>
          </p:cNvSpPr>
          <p:nvPr>
            <p:ph idx="1"/>
          </p:nvPr>
        </p:nvSpPr>
        <p:spPr>
          <a:xfrm>
            <a:off x="457200" y="1600200"/>
            <a:ext cx="8229600" cy="4983162"/>
          </a:xfrm>
        </p:spPr>
        <p:txBody>
          <a:bodyPr>
            <a:normAutofit/>
          </a:bodyPr>
          <a:lstStyle/>
          <a:p>
            <a:pPr marL="0" indent="0">
              <a:buNone/>
            </a:pPr>
            <a:r>
              <a:rPr lang="en-US" sz="1800" dirty="0">
                <a:latin typeface="Times New Roman" panose="02020603050405020304" pitchFamily="18" charset="0"/>
                <a:cs typeface="Times New Roman" panose="02020603050405020304" pitchFamily="18" charset="0"/>
              </a:rPr>
              <a:t>The following ETFs were used for the model:</a:t>
            </a:r>
          </a:p>
          <a:p>
            <a:r>
              <a:rPr lang="en-US" sz="1800" dirty="0">
                <a:latin typeface="Times New Roman" panose="02020603050405020304" pitchFamily="18" charset="0"/>
                <a:cs typeface="Times New Roman" panose="02020603050405020304" pitchFamily="18" charset="0"/>
              </a:rPr>
              <a:t>XLK - Technology Select Sector SPDR Fund</a:t>
            </a:r>
          </a:p>
          <a:p>
            <a:r>
              <a:rPr lang="en-US" sz="1800" dirty="0">
                <a:latin typeface="Times New Roman" panose="02020603050405020304" pitchFamily="18" charset="0"/>
                <a:cs typeface="Times New Roman" panose="02020603050405020304" pitchFamily="18" charset="0"/>
              </a:rPr>
              <a:t>XLF - Financial Select Sector SPDR Fund</a:t>
            </a:r>
          </a:p>
          <a:p>
            <a:r>
              <a:rPr lang="en-US" sz="1800" dirty="0">
                <a:latin typeface="Times New Roman" panose="02020603050405020304" pitchFamily="18" charset="0"/>
                <a:cs typeface="Times New Roman" panose="02020603050405020304" pitchFamily="18" charset="0"/>
              </a:rPr>
              <a:t>XLE - Energy Select Sector SPDR Fund</a:t>
            </a:r>
          </a:p>
          <a:p>
            <a:r>
              <a:rPr lang="en-US" sz="1800" dirty="0">
                <a:latin typeface="Times New Roman" panose="02020603050405020304" pitchFamily="18" charset="0"/>
                <a:cs typeface="Times New Roman" panose="02020603050405020304" pitchFamily="18" charset="0"/>
              </a:rPr>
              <a:t>XLV - Health Care Select Sector SPDR Fund</a:t>
            </a:r>
          </a:p>
          <a:p>
            <a:r>
              <a:rPr lang="en-US" sz="1800" dirty="0">
                <a:latin typeface="Times New Roman" panose="02020603050405020304" pitchFamily="18" charset="0"/>
                <a:cs typeface="Times New Roman" panose="02020603050405020304" pitchFamily="18" charset="0"/>
              </a:rPr>
              <a:t>XLI - Industrial Select Sector SPDR Fund</a:t>
            </a:r>
          </a:p>
          <a:p>
            <a:r>
              <a:rPr lang="en-US" sz="1800" dirty="0">
                <a:latin typeface="Times New Roman" panose="02020603050405020304" pitchFamily="18" charset="0"/>
                <a:cs typeface="Times New Roman" panose="02020603050405020304" pitchFamily="18" charset="0"/>
              </a:rPr>
              <a:t>XLY - Consumer Discretionary Select Sector SPDR Fund (non-essential goods)</a:t>
            </a:r>
          </a:p>
          <a:p>
            <a:r>
              <a:rPr lang="en-US" sz="1800" dirty="0">
                <a:latin typeface="Times New Roman" panose="02020603050405020304" pitchFamily="18" charset="0"/>
                <a:cs typeface="Times New Roman" panose="02020603050405020304" pitchFamily="18" charset="0"/>
              </a:rPr>
              <a:t>XLP - Consumer Staples Select Sector SPDR Fund (essential goods)</a:t>
            </a:r>
          </a:p>
          <a:p>
            <a:r>
              <a:rPr lang="en-US" sz="1800" dirty="0">
                <a:latin typeface="Times New Roman" panose="02020603050405020304" pitchFamily="18" charset="0"/>
                <a:cs typeface="Times New Roman" panose="02020603050405020304" pitchFamily="18" charset="0"/>
              </a:rPr>
              <a:t>XLU - Utilities Select Sector SPDR Fund</a:t>
            </a:r>
          </a:p>
          <a:p>
            <a:r>
              <a:rPr lang="en-US" sz="1800" dirty="0">
                <a:latin typeface="Times New Roman" panose="02020603050405020304" pitchFamily="18" charset="0"/>
                <a:cs typeface="Times New Roman" panose="02020603050405020304" pitchFamily="18" charset="0"/>
              </a:rPr>
              <a:t>XLB - Materials Select Sector SPDR Fund </a:t>
            </a:r>
          </a:p>
          <a:p>
            <a:pPr lvl="1"/>
            <a:endParaRPr lang="en-US" sz="1400" dirty="0">
              <a:latin typeface="Times New Roman" panose="02020603050405020304" pitchFamily="18" charset="0"/>
              <a:cs typeface="Times New Roman" panose="02020603050405020304" pitchFamily="18" charset="0"/>
            </a:endParaRPr>
          </a:p>
          <a:p>
            <a:endParaRPr sz="1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79485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6E4BC-08A0-425E-03CA-9E577EF5D9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BF0D7F-88A1-86F4-3CB7-9238D88F17E8}"/>
              </a:ext>
            </a:extLst>
          </p:cNvPr>
          <p:cNvSpPr>
            <a:spLocks noGrp="1"/>
          </p:cNvSpPr>
          <p:nvPr>
            <p:ph type="title"/>
          </p:nvPr>
        </p:nvSpPr>
        <p:spPr/>
        <p:txBody>
          <a:bodyPr/>
          <a:lstStyle/>
          <a:p>
            <a:pPr algn="l"/>
            <a:r>
              <a:rPr dirty="0">
                <a:latin typeface="Times New Roman" panose="02020603050405020304" pitchFamily="18" charset="0"/>
                <a:cs typeface="Times New Roman" panose="02020603050405020304" pitchFamily="18" charset="0"/>
              </a:rPr>
              <a:t>Dataset Overview</a:t>
            </a:r>
          </a:p>
        </p:txBody>
      </p:sp>
      <p:sp>
        <p:nvSpPr>
          <p:cNvPr id="3" name="Content Placeholder 2">
            <a:extLst>
              <a:ext uri="{FF2B5EF4-FFF2-40B4-BE49-F238E27FC236}">
                <a16:creationId xmlns:a16="http://schemas.microsoft.com/office/drawing/2014/main" id="{525F203A-2C9C-8CB4-DA84-ED3AF20A8F09}"/>
              </a:ext>
            </a:extLst>
          </p:cNvPr>
          <p:cNvSpPr>
            <a:spLocks noGrp="1"/>
          </p:cNvSpPr>
          <p:nvPr>
            <p:ph idx="1"/>
          </p:nvPr>
        </p:nvSpPr>
        <p:spPr>
          <a:xfrm>
            <a:off x="457200" y="1449187"/>
            <a:ext cx="8229600" cy="2773688"/>
          </a:xfrm>
        </p:spPr>
        <p:txBody>
          <a:bodyPr>
            <a:normAutofit fontScale="70000" lnSpcReduction="20000"/>
          </a:bodyPr>
          <a:lstStyle/>
          <a:p>
            <a:pPr marL="0" indent="0">
              <a:buNone/>
            </a:pPr>
            <a:r>
              <a:rPr lang="en-US" sz="1800" b="1" dirty="0">
                <a:latin typeface="Times New Roman" panose="02020603050405020304" pitchFamily="18" charset="0"/>
                <a:cs typeface="Times New Roman" panose="02020603050405020304" pitchFamily="18" charset="0"/>
              </a:rPr>
              <a:t>Two datasets</a:t>
            </a:r>
            <a:r>
              <a:rPr lang="en-US" sz="1800" dirty="0">
                <a:latin typeface="Times New Roman" panose="02020603050405020304" pitchFamily="18" charset="0"/>
                <a:cs typeface="Times New Roman" panose="02020603050405020304" pitchFamily="18" charset="0"/>
              </a:rPr>
              <a:t>:</a:t>
            </a:r>
          </a:p>
          <a:p>
            <a:pPr marL="0" indent="0">
              <a:buNone/>
            </a:pPr>
            <a:r>
              <a:rPr lang="en-US" sz="1800" dirty="0">
                <a:latin typeface="Times New Roman" panose="02020603050405020304" pitchFamily="18" charset="0"/>
                <a:cs typeface="Times New Roman" panose="02020603050405020304" pitchFamily="18" charset="0"/>
              </a:rPr>
              <a:t>1. The yfinance package to extract financial data (“</a:t>
            </a:r>
            <a:r>
              <a:rPr lang="en-US" sz="1800" dirty="0" err="1">
                <a:latin typeface="Times New Roman" panose="02020603050405020304" pitchFamily="18" charset="0"/>
                <a:cs typeface="Times New Roman" panose="02020603050405020304" pitchFamily="18" charset="0"/>
              </a:rPr>
              <a:t>Yfinance</a:t>
            </a:r>
            <a:r>
              <a:rPr lang="en-US" sz="1800" dirty="0">
                <a:latin typeface="Times New Roman" panose="02020603050405020304" pitchFamily="18" charset="0"/>
                <a:cs typeface="Times New Roman" panose="02020603050405020304" pitchFamily="18" charset="0"/>
              </a:rPr>
              <a:t>”).</a:t>
            </a:r>
          </a:p>
          <a:p>
            <a:pPr marL="0" indent="0">
              <a:buNone/>
            </a:pPr>
            <a:r>
              <a:rPr lang="en-US" sz="1800" dirty="0">
                <a:latin typeface="Times New Roman" panose="02020603050405020304" pitchFamily="18" charset="0"/>
                <a:cs typeface="Times New Roman" panose="02020603050405020304" pitchFamily="18" charset="0"/>
              </a:rPr>
              <a:t>2. Kaggle’s News Category Dataset for daily news headlines (Mirsa).</a:t>
            </a:r>
          </a:p>
          <a:p>
            <a:pPr marL="0" indent="0">
              <a:buNone/>
            </a:pPr>
            <a:endParaRPr lang="en-US" sz="1800" dirty="0">
              <a:latin typeface="Times New Roman" panose="02020603050405020304" pitchFamily="18" charset="0"/>
              <a:cs typeface="Times New Roman" panose="02020603050405020304" pitchFamily="18" charset="0"/>
            </a:endParaRPr>
          </a:p>
          <a:p>
            <a:pPr marL="0" indent="0">
              <a:buNone/>
            </a:pPr>
            <a:r>
              <a:rPr lang="en-US" sz="1800" b="1" dirty="0">
                <a:latin typeface="Times New Roman" panose="02020603050405020304" pitchFamily="18" charset="0"/>
                <a:cs typeface="Times New Roman" panose="02020603050405020304" pitchFamily="18" charset="0"/>
              </a:rPr>
              <a:t>Number of samples</a:t>
            </a:r>
            <a:r>
              <a:rPr lang="en-US" sz="1800" dirty="0">
                <a:latin typeface="Times New Roman" panose="02020603050405020304" pitchFamily="18" charset="0"/>
                <a:cs typeface="Times New Roman" panose="02020603050405020304" pitchFamily="18" charset="0"/>
              </a:rPr>
              <a:t>: 2,680 trading days from 1/30/2012 to 9/21/2022.</a:t>
            </a:r>
          </a:p>
          <a:p>
            <a:pPr marL="0" indent="0">
              <a:buNone/>
            </a:pPr>
            <a:r>
              <a:rPr lang="en-US" sz="1800" b="1" dirty="0">
                <a:latin typeface="Times New Roman" panose="02020603050405020304" pitchFamily="18" charset="0"/>
                <a:cs typeface="Times New Roman" panose="02020603050405020304" pitchFamily="18" charset="0"/>
              </a:rPr>
              <a:t>Input features: </a:t>
            </a:r>
            <a:r>
              <a:rPr lang="en-US" sz="1800" dirty="0">
                <a:latin typeface="Times New Roman" panose="02020603050405020304" pitchFamily="18" charset="0"/>
                <a:cs typeface="Times New Roman" panose="02020603050405020304" pitchFamily="18" charset="0"/>
              </a:rPr>
              <a:t>time sequences of features from </a:t>
            </a:r>
            <a:r>
              <a:rPr lang="en-US" sz="1800" u="sng" dirty="0">
                <a:latin typeface="Times New Roman" panose="02020603050405020304" pitchFamily="18" charset="0"/>
                <a:cs typeface="Times New Roman" panose="02020603050405020304" pitchFamily="18" charset="0"/>
              </a:rPr>
              <a:t>60 previous days.</a:t>
            </a:r>
            <a:endParaRPr lang="en-US" sz="1800" b="1" u="sng" dirty="0">
              <a:latin typeface="Times New Roman" panose="02020603050405020304" pitchFamily="18" charset="0"/>
              <a:cs typeface="Times New Roman" panose="02020603050405020304" pitchFamily="18" charset="0"/>
            </a:endParaRPr>
          </a:p>
          <a:p>
            <a:pPr lvl="1">
              <a:buFont typeface="Wingdings" pitchFamily="2" charset="2"/>
              <a:buChar char="Ø"/>
            </a:pPr>
            <a:r>
              <a:rPr lang="en-US" sz="1400" dirty="0">
                <a:latin typeface="Times New Roman" panose="02020603050405020304" pitchFamily="18" charset="0"/>
                <a:cs typeface="Times New Roman" panose="02020603050405020304" pitchFamily="18" charset="0"/>
              </a:rPr>
              <a:t>Prices (close, high, low, open) and volumes for all 9 ETFs. </a:t>
            </a:r>
          </a:p>
          <a:p>
            <a:pPr lvl="1">
              <a:buFont typeface="Wingdings" pitchFamily="2" charset="2"/>
              <a:buChar char="Ø"/>
            </a:pPr>
            <a:r>
              <a:rPr lang="en-US" sz="1400" dirty="0">
                <a:latin typeface="Times New Roman" panose="02020603050405020304" pitchFamily="18" charset="0"/>
                <a:cs typeface="Times New Roman" panose="02020603050405020304" pitchFamily="18" charset="0"/>
              </a:rPr>
              <a:t>Sentiment scores - daily mean, daily standard deviations, and number of daily news headlines. These were extracted using the VADER pretrained sentiment analysis model: </a:t>
            </a:r>
            <a:r>
              <a:rPr lang="en-US" sz="1400" dirty="0">
                <a:latin typeface="Times New Roman" panose="02020603050405020304" pitchFamily="18" charset="0"/>
                <a:cs typeface="Times New Roman" panose="02020603050405020304" pitchFamily="18" charset="0"/>
                <a:hlinkClick r:id="rId2"/>
              </a:rPr>
              <a:t>VADER: SentimentIntensityAnalyzer</a:t>
            </a:r>
            <a:r>
              <a:rPr lang="en-US" sz="1400" dirty="0">
                <a:latin typeface="Times New Roman" panose="02020603050405020304" pitchFamily="18" charset="0"/>
                <a:cs typeface="Times New Roman" panose="02020603050405020304" pitchFamily="18" charset="0"/>
              </a:rPr>
              <a:t>. </a:t>
            </a:r>
          </a:p>
          <a:p>
            <a:pPr marL="0" indent="0">
              <a:buNone/>
            </a:pPr>
            <a:r>
              <a:rPr lang="en-US" sz="1800" b="1" dirty="0">
                <a:latin typeface="Times New Roman" panose="02020603050405020304" pitchFamily="18" charset="0"/>
                <a:cs typeface="Times New Roman" panose="02020603050405020304" pitchFamily="18" charset="0"/>
              </a:rPr>
              <a:t>Target Variable</a:t>
            </a:r>
            <a:r>
              <a:rPr lang="en-US" sz="1800" dirty="0">
                <a:latin typeface="Times New Roman" panose="02020603050405020304" pitchFamily="18" charset="0"/>
                <a:cs typeface="Times New Roman" panose="02020603050405020304" pitchFamily="18" charset="0"/>
              </a:rPr>
              <a:t>: 9 close prices from the 9 ETFs on the </a:t>
            </a:r>
            <a:r>
              <a:rPr lang="en-US" sz="1800" u="sng" dirty="0">
                <a:latin typeface="Times New Roman" panose="02020603050405020304" pitchFamily="18" charset="0"/>
                <a:cs typeface="Times New Roman" panose="02020603050405020304" pitchFamily="18" charset="0"/>
              </a:rPr>
              <a:t>next day</a:t>
            </a:r>
            <a:r>
              <a:rPr lang="en-US" sz="1800" dirty="0">
                <a:latin typeface="Times New Roman" panose="02020603050405020304" pitchFamily="18" charset="0"/>
                <a:cs typeface="Times New Roman" panose="02020603050405020304" pitchFamily="18" charset="0"/>
              </a:rPr>
              <a:t> .</a:t>
            </a:r>
          </a:p>
          <a:p>
            <a:pPr marL="0" indent="0">
              <a:buNone/>
            </a:pPr>
            <a:endParaRPr lang="en-US" sz="1800" b="1" dirty="0">
              <a:latin typeface="Times New Roman" panose="02020603050405020304" pitchFamily="18" charset="0"/>
              <a:cs typeface="Times New Roman" panose="02020603050405020304" pitchFamily="18" charset="0"/>
            </a:endParaRPr>
          </a:p>
          <a:p>
            <a:pPr marL="0" indent="0">
              <a:buNone/>
            </a:pPr>
            <a:r>
              <a:rPr lang="en-US" sz="1800" b="1" dirty="0">
                <a:latin typeface="Times New Roman" panose="02020603050405020304" pitchFamily="18" charset="0"/>
                <a:cs typeface="Times New Roman" panose="02020603050405020304" pitchFamily="18" charset="0"/>
              </a:rPr>
              <a:t>Preprocessing Steps: </a:t>
            </a:r>
          </a:p>
          <a:p>
            <a:pPr lvl="1"/>
            <a:r>
              <a:rPr lang="en-US" sz="1400" dirty="0">
                <a:latin typeface="Times New Roman" panose="02020603050405020304" pitchFamily="18" charset="0"/>
                <a:cs typeface="Times New Roman" panose="02020603050405020304" pitchFamily="18" charset="0"/>
              </a:rPr>
              <a:t>Aggregating news headlines by day and using VADER to extract the daily polarity scores.</a:t>
            </a:r>
          </a:p>
          <a:p>
            <a:pPr lvl="1"/>
            <a:r>
              <a:rPr lang="en-US" sz="1400" dirty="0">
                <a:latin typeface="Times New Roman" panose="02020603050405020304" pitchFamily="18" charset="0"/>
                <a:cs typeface="Times New Roman" panose="02020603050405020304" pitchFamily="18" charset="0"/>
              </a:rPr>
              <a:t>Standardization of target (using rolling statistics) and features (using per window statistics).</a:t>
            </a:r>
          </a:p>
          <a:p>
            <a:pPr lvl="1"/>
            <a:r>
              <a:rPr lang="en-US" sz="1400" dirty="0">
                <a:latin typeface="Times New Roman" panose="02020603050405020304" pitchFamily="18" charset="0"/>
                <a:cs typeface="Times New Roman" panose="02020603050405020304" pitchFamily="18" charset="0"/>
              </a:rPr>
              <a:t>Creation of data sequences, using a specified look-back period (60 days by default)</a:t>
            </a:r>
          </a:p>
          <a:p>
            <a:pPr marL="0" indent="0">
              <a:buNone/>
            </a:pPr>
            <a:endParaRPr lang="en-US" sz="1800" b="1" dirty="0">
              <a:latin typeface="Times New Roman" panose="02020603050405020304" pitchFamily="18" charset="0"/>
              <a:cs typeface="Times New Roman" panose="02020603050405020304" pitchFamily="18" charset="0"/>
            </a:endParaRPr>
          </a:p>
          <a:p>
            <a:pPr marL="0" indent="0">
              <a:buNone/>
            </a:pPr>
            <a:endParaRPr lang="en-US" sz="1800" b="1" dirty="0">
              <a:latin typeface="Times New Roman" panose="02020603050405020304" pitchFamily="18" charset="0"/>
              <a:cs typeface="Times New Roman" panose="02020603050405020304" pitchFamily="18" charset="0"/>
            </a:endParaRPr>
          </a:p>
          <a:p>
            <a:pPr marL="0" indent="0">
              <a:buNone/>
            </a:pPr>
            <a:endParaRPr lang="en-US" sz="1800" b="1" dirty="0">
              <a:latin typeface="Times New Roman" panose="02020603050405020304" pitchFamily="18" charset="0"/>
              <a:cs typeface="Times New Roman" panose="02020603050405020304" pitchFamily="18" charset="0"/>
            </a:endParaRPr>
          </a:p>
          <a:p>
            <a:pPr marL="0" indent="0">
              <a:buNone/>
            </a:pPr>
            <a:endParaRPr lang="en-US" sz="1800" b="1" dirty="0">
              <a:latin typeface="Times New Roman" panose="02020603050405020304" pitchFamily="18" charset="0"/>
              <a:cs typeface="Times New Roman" panose="02020603050405020304" pitchFamily="18" charset="0"/>
            </a:endParaRPr>
          </a:p>
          <a:p>
            <a:pPr marL="0" indent="0">
              <a:buNone/>
            </a:pPr>
            <a:endParaRPr lang="en-US" sz="1800" b="1" dirty="0">
              <a:latin typeface="Times New Roman" panose="02020603050405020304" pitchFamily="18" charset="0"/>
              <a:cs typeface="Times New Roman" panose="02020603050405020304" pitchFamily="18" charset="0"/>
            </a:endParaRPr>
          </a:p>
          <a:p>
            <a:pPr marL="0" indent="0">
              <a:buNone/>
            </a:pPr>
            <a:endParaRPr lang="en-US" sz="1800" b="1" dirty="0">
              <a:latin typeface="Times New Roman" panose="02020603050405020304" pitchFamily="18" charset="0"/>
              <a:cs typeface="Times New Roman" panose="02020603050405020304" pitchFamily="18" charset="0"/>
            </a:endParaRPr>
          </a:p>
          <a:p>
            <a:pPr marL="0" indent="0">
              <a:buNone/>
            </a:pPr>
            <a:endParaRPr lang="en-US" sz="1800" b="1" dirty="0">
              <a:latin typeface="Times New Roman" panose="02020603050405020304" pitchFamily="18" charset="0"/>
              <a:cs typeface="Times New Roman" panose="02020603050405020304" pitchFamily="18" charset="0"/>
            </a:endParaRPr>
          </a:p>
          <a:p>
            <a:pPr marL="0" indent="0">
              <a:buNone/>
            </a:pPr>
            <a:endParaRPr lang="en-US" sz="1800" b="1" dirty="0">
              <a:latin typeface="Times New Roman" panose="02020603050405020304" pitchFamily="18" charset="0"/>
              <a:cs typeface="Times New Roman" panose="02020603050405020304" pitchFamily="18" charset="0"/>
            </a:endParaRPr>
          </a:p>
        </p:txBody>
      </p:sp>
      <p:sp>
        <p:nvSpPr>
          <p:cNvPr id="4" name="Rectangle 3">
            <a:extLst>
              <a:ext uri="{FF2B5EF4-FFF2-40B4-BE49-F238E27FC236}">
                <a16:creationId xmlns:a16="http://schemas.microsoft.com/office/drawing/2014/main" id="{803DDD24-04C8-48B3-75D6-D3973C10EA3F}"/>
              </a:ext>
            </a:extLst>
          </p:cNvPr>
          <p:cNvSpPr/>
          <p:nvPr/>
        </p:nvSpPr>
        <p:spPr>
          <a:xfrm>
            <a:off x="703523" y="4254424"/>
            <a:ext cx="897466" cy="33258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dirty="0"/>
              <a:t>Prices </a:t>
            </a:r>
          </a:p>
        </p:txBody>
      </p:sp>
      <p:sp>
        <p:nvSpPr>
          <p:cNvPr id="5" name="Rectangle 4">
            <a:extLst>
              <a:ext uri="{FF2B5EF4-FFF2-40B4-BE49-F238E27FC236}">
                <a16:creationId xmlns:a16="http://schemas.microsoft.com/office/drawing/2014/main" id="{10BE56DA-339F-D57A-C47F-1EA7107B2EA8}"/>
              </a:ext>
            </a:extLst>
          </p:cNvPr>
          <p:cNvSpPr/>
          <p:nvPr/>
        </p:nvSpPr>
        <p:spPr>
          <a:xfrm>
            <a:off x="702735" y="4769567"/>
            <a:ext cx="897466" cy="33258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dirty="0"/>
              <a:t>Volumes</a:t>
            </a:r>
          </a:p>
        </p:txBody>
      </p:sp>
      <p:sp>
        <p:nvSpPr>
          <p:cNvPr id="6" name="Rectangle 5">
            <a:extLst>
              <a:ext uri="{FF2B5EF4-FFF2-40B4-BE49-F238E27FC236}">
                <a16:creationId xmlns:a16="http://schemas.microsoft.com/office/drawing/2014/main" id="{EE88431F-EF23-6A69-C9B6-CE1AACE7D07A}"/>
              </a:ext>
            </a:extLst>
          </p:cNvPr>
          <p:cNvSpPr/>
          <p:nvPr/>
        </p:nvSpPr>
        <p:spPr>
          <a:xfrm>
            <a:off x="702735" y="5284710"/>
            <a:ext cx="897466" cy="33258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dirty="0"/>
              <a:t>News headlines</a:t>
            </a:r>
          </a:p>
        </p:txBody>
      </p:sp>
      <p:sp>
        <p:nvSpPr>
          <p:cNvPr id="7" name="Rounded Rectangle 6">
            <a:extLst>
              <a:ext uri="{FF2B5EF4-FFF2-40B4-BE49-F238E27FC236}">
                <a16:creationId xmlns:a16="http://schemas.microsoft.com/office/drawing/2014/main" id="{8A429A21-4B9A-AA70-4C0C-8BB619599620}"/>
              </a:ext>
            </a:extLst>
          </p:cNvPr>
          <p:cNvSpPr/>
          <p:nvPr/>
        </p:nvSpPr>
        <p:spPr>
          <a:xfrm>
            <a:off x="2125923" y="5183185"/>
            <a:ext cx="1430078" cy="535632"/>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dirty="0"/>
              <a:t>VADER Sentiment Intensity Analyzer</a:t>
            </a:r>
          </a:p>
        </p:txBody>
      </p:sp>
      <p:sp>
        <p:nvSpPr>
          <p:cNvPr id="8" name="TextBox 7">
            <a:extLst>
              <a:ext uri="{FF2B5EF4-FFF2-40B4-BE49-F238E27FC236}">
                <a16:creationId xmlns:a16="http://schemas.microsoft.com/office/drawing/2014/main" id="{ADB7E880-71DB-5561-EF5D-8AD339DB8F8D}"/>
              </a:ext>
            </a:extLst>
          </p:cNvPr>
          <p:cNvSpPr txBox="1"/>
          <p:nvPr/>
        </p:nvSpPr>
        <p:spPr>
          <a:xfrm>
            <a:off x="457200" y="5906544"/>
            <a:ext cx="7662334" cy="692497"/>
          </a:xfrm>
          <a:prstGeom prst="rect">
            <a:avLst/>
          </a:prstGeom>
          <a:noFill/>
        </p:spPr>
        <p:txBody>
          <a:bodyPr wrap="square" rtlCol="0">
            <a:spAutoFit/>
          </a:bodyPr>
          <a:lstStyle/>
          <a:p>
            <a:r>
              <a:rPr lang="en-US" sz="1300" b="1" dirty="0">
                <a:latin typeface="Times New Roman" panose="02020603050405020304" pitchFamily="18" charset="0"/>
                <a:cs typeface="Times New Roman" panose="02020603050405020304" pitchFamily="18" charset="0"/>
              </a:rPr>
              <a:t>Input </a:t>
            </a:r>
            <a:r>
              <a:rPr lang="en-US" sz="1300" dirty="0">
                <a:latin typeface="Times New Roman" panose="02020603050405020304" pitchFamily="18" charset="0"/>
                <a:cs typeface="Times New Roman" panose="02020603050405020304" pitchFamily="18" charset="0"/>
              </a:rPr>
              <a:t>(3-dimensional tensor): (# training examples, # days, # features) = (1815, 60, 48)</a:t>
            </a:r>
          </a:p>
          <a:p>
            <a:r>
              <a:rPr lang="en-US" sz="1300" b="1" dirty="0">
                <a:latin typeface="Times New Roman" panose="02020603050405020304" pitchFamily="18" charset="0"/>
                <a:cs typeface="Times New Roman" panose="02020603050405020304" pitchFamily="18" charset="0"/>
              </a:rPr>
              <a:t>Output </a:t>
            </a:r>
            <a:r>
              <a:rPr lang="en-US" sz="1300" dirty="0">
                <a:latin typeface="Times New Roman" panose="02020603050405020304" pitchFamily="18" charset="0"/>
                <a:cs typeface="Times New Roman" panose="02020603050405020304" pitchFamily="18" charset="0"/>
              </a:rPr>
              <a:t>(9-dimensional vector at each timestamp): (# training examples, # outputs) = (1815, 9)</a:t>
            </a:r>
            <a:endParaRPr lang="en-US" sz="1300" b="1" dirty="0">
              <a:latin typeface="Times New Roman" panose="02020603050405020304" pitchFamily="18" charset="0"/>
              <a:cs typeface="Times New Roman" panose="02020603050405020304" pitchFamily="18" charset="0"/>
            </a:endParaRPr>
          </a:p>
          <a:p>
            <a:endParaRPr lang="en-US" sz="1300" dirty="0"/>
          </a:p>
        </p:txBody>
      </p:sp>
      <p:cxnSp>
        <p:nvCxnSpPr>
          <p:cNvPr id="10" name="Straight Arrow Connector 9">
            <a:extLst>
              <a:ext uri="{FF2B5EF4-FFF2-40B4-BE49-F238E27FC236}">
                <a16:creationId xmlns:a16="http://schemas.microsoft.com/office/drawing/2014/main" id="{1BE77BE8-59EA-ADAB-1C39-6F5F35B0FB3F}"/>
              </a:ext>
            </a:extLst>
          </p:cNvPr>
          <p:cNvCxnSpPr>
            <a:cxnSpLocks/>
            <a:stCxn id="6" idx="3"/>
            <a:endCxn id="7" idx="1"/>
          </p:cNvCxnSpPr>
          <p:nvPr/>
        </p:nvCxnSpPr>
        <p:spPr>
          <a:xfrm>
            <a:off x="1600201" y="5451001"/>
            <a:ext cx="52572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a:extLst>
              <a:ext uri="{FF2B5EF4-FFF2-40B4-BE49-F238E27FC236}">
                <a16:creationId xmlns:a16="http://schemas.microsoft.com/office/drawing/2014/main" id="{969BA15D-D632-960C-002E-3AB142E005F6}"/>
              </a:ext>
            </a:extLst>
          </p:cNvPr>
          <p:cNvSpPr/>
          <p:nvPr/>
        </p:nvSpPr>
        <p:spPr>
          <a:xfrm>
            <a:off x="3784599" y="4647172"/>
            <a:ext cx="1862667" cy="577369"/>
          </a:xfrm>
          <a:prstGeom prst="roundRect">
            <a:avLst>
              <a:gd name="adj" fmla="val 10801"/>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dirty="0"/>
              <a:t>Standardization (per-window for features, rolling statistics for target</a:t>
            </a:r>
          </a:p>
        </p:txBody>
      </p:sp>
      <p:cxnSp>
        <p:nvCxnSpPr>
          <p:cNvPr id="21" name="Straight Arrow Connector 20">
            <a:extLst>
              <a:ext uri="{FF2B5EF4-FFF2-40B4-BE49-F238E27FC236}">
                <a16:creationId xmlns:a16="http://schemas.microsoft.com/office/drawing/2014/main" id="{BA5041C1-C481-60F4-007E-8445F3EA42FE}"/>
              </a:ext>
            </a:extLst>
          </p:cNvPr>
          <p:cNvCxnSpPr>
            <a:cxnSpLocks/>
            <a:stCxn id="4" idx="3"/>
            <a:endCxn id="18" idx="1"/>
          </p:cNvCxnSpPr>
          <p:nvPr/>
        </p:nvCxnSpPr>
        <p:spPr>
          <a:xfrm>
            <a:off x="1600989" y="4420715"/>
            <a:ext cx="2183610" cy="515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C7BED5ED-0636-C67D-34AD-F7070BFAF9C3}"/>
              </a:ext>
            </a:extLst>
          </p:cNvPr>
          <p:cNvCxnSpPr>
            <a:stCxn id="5" idx="3"/>
            <a:endCxn id="18" idx="1"/>
          </p:cNvCxnSpPr>
          <p:nvPr/>
        </p:nvCxnSpPr>
        <p:spPr>
          <a:xfrm flipV="1">
            <a:off x="1600201" y="4935857"/>
            <a:ext cx="2184398"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a:extLst>
              <a:ext uri="{FF2B5EF4-FFF2-40B4-BE49-F238E27FC236}">
                <a16:creationId xmlns:a16="http://schemas.microsoft.com/office/drawing/2014/main" id="{2660795B-7882-97E5-68D5-3487B88207FD}"/>
              </a:ext>
            </a:extLst>
          </p:cNvPr>
          <p:cNvSpPr/>
          <p:nvPr/>
        </p:nvSpPr>
        <p:spPr>
          <a:xfrm>
            <a:off x="6078279" y="4753029"/>
            <a:ext cx="711988" cy="365653"/>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dirty="0"/>
              <a:t>Merged</a:t>
            </a:r>
          </a:p>
        </p:txBody>
      </p:sp>
      <p:cxnSp>
        <p:nvCxnSpPr>
          <p:cNvPr id="31" name="Straight Arrow Connector 30">
            <a:extLst>
              <a:ext uri="{FF2B5EF4-FFF2-40B4-BE49-F238E27FC236}">
                <a16:creationId xmlns:a16="http://schemas.microsoft.com/office/drawing/2014/main" id="{6B77C6C4-BC83-4D77-8BF6-07A6F411B4EE}"/>
              </a:ext>
            </a:extLst>
          </p:cNvPr>
          <p:cNvCxnSpPr>
            <a:cxnSpLocks/>
            <a:stCxn id="18" idx="3"/>
            <a:endCxn id="29" idx="1"/>
          </p:cNvCxnSpPr>
          <p:nvPr/>
        </p:nvCxnSpPr>
        <p:spPr>
          <a:xfrm flipV="1">
            <a:off x="5647266" y="4935856"/>
            <a:ext cx="431013"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25BE263E-4CB0-AAE8-750C-B7D581B69EBC}"/>
              </a:ext>
            </a:extLst>
          </p:cNvPr>
          <p:cNvCxnSpPr>
            <a:cxnSpLocks/>
            <a:stCxn id="7" idx="3"/>
            <a:endCxn id="18" idx="1"/>
          </p:cNvCxnSpPr>
          <p:nvPr/>
        </p:nvCxnSpPr>
        <p:spPr>
          <a:xfrm flipV="1">
            <a:off x="3556001" y="4935857"/>
            <a:ext cx="228598" cy="51514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6" name="Rounded Rectangle 55">
            <a:extLst>
              <a:ext uri="{FF2B5EF4-FFF2-40B4-BE49-F238E27FC236}">
                <a16:creationId xmlns:a16="http://schemas.microsoft.com/office/drawing/2014/main" id="{024A0943-3AC1-1885-1C44-63EC525E7C8C}"/>
              </a:ext>
            </a:extLst>
          </p:cNvPr>
          <p:cNvSpPr/>
          <p:nvPr/>
        </p:nvSpPr>
        <p:spPr>
          <a:xfrm>
            <a:off x="7221279" y="4753028"/>
            <a:ext cx="1465521" cy="365653"/>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200" dirty="0"/>
              <a:t>Sequence creation</a:t>
            </a:r>
          </a:p>
        </p:txBody>
      </p:sp>
      <p:cxnSp>
        <p:nvCxnSpPr>
          <p:cNvPr id="64" name="Straight Arrow Connector 63">
            <a:extLst>
              <a:ext uri="{FF2B5EF4-FFF2-40B4-BE49-F238E27FC236}">
                <a16:creationId xmlns:a16="http://schemas.microsoft.com/office/drawing/2014/main" id="{8286EEDA-6014-434B-F913-7AF1F13B4FCE}"/>
              </a:ext>
            </a:extLst>
          </p:cNvPr>
          <p:cNvCxnSpPr>
            <a:cxnSpLocks/>
            <a:stCxn id="29" idx="3"/>
            <a:endCxn id="56" idx="1"/>
          </p:cNvCxnSpPr>
          <p:nvPr/>
        </p:nvCxnSpPr>
        <p:spPr>
          <a:xfrm flipV="1">
            <a:off x="6790267" y="4935855"/>
            <a:ext cx="431012"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164442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dirty="0">
                <a:latin typeface="Times New Roman" panose="02020603050405020304" pitchFamily="18" charset="0"/>
                <a:cs typeface="Times New Roman" panose="02020603050405020304" pitchFamily="18" charset="0"/>
              </a:rPr>
              <a:t>Approach Overview</a:t>
            </a:r>
          </a:p>
        </p:txBody>
      </p:sp>
      <p:sp>
        <p:nvSpPr>
          <p:cNvPr id="3" name="Content Placeholder 2"/>
          <p:cNvSpPr>
            <a:spLocks noGrp="1"/>
          </p:cNvSpPr>
          <p:nvPr>
            <p:ph idx="1"/>
          </p:nvPr>
        </p:nvSpPr>
        <p:spPr>
          <a:xfrm>
            <a:off x="457200" y="1600201"/>
            <a:ext cx="8229600" cy="2536370"/>
          </a:xfrm>
        </p:spPr>
        <p:txBody>
          <a:bodyPr>
            <a:normAutofit/>
          </a:bodyPr>
          <a:lstStyle/>
          <a:p>
            <a:pPr marL="0" indent="0">
              <a:buNone/>
            </a:pPr>
            <a:r>
              <a:rPr lang="en-US" sz="2000" dirty="0">
                <a:latin typeface="Times New Roman" panose="02020603050405020304" pitchFamily="18" charset="0"/>
                <a:cs typeface="Times New Roman" panose="02020603050405020304" pitchFamily="18" charset="0"/>
              </a:rPr>
              <a:t>A one sentence overview of the deep learning approach: </a:t>
            </a:r>
          </a:p>
          <a:p>
            <a:pPr marL="0" indent="0">
              <a:buNone/>
            </a:pPr>
            <a:r>
              <a:rPr lang="en-US" sz="2000" dirty="0">
                <a:latin typeface="Times New Roman" panose="02020603050405020304" pitchFamily="18" charset="0"/>
                <a:cs typeface="Times New Roman" panose="02020603050405020304" pitchFamily="18" charset="0"/>
              </a:rPr>
              <a:t>A multivariate LSTM model is trained to learn temporal patterns across 9 market sector ETFs and predict their next-day prices jointly from historical market and sentiment features, with the LSTM sharing weights across sectors, allowing information from one sector to influence the others. </a:t>
            </a:r>
          </a:p>
        </p:txBody>
      </p:sp>
      <p:pic>
        <p:nvPicPr>
          <p:cNvPr id="4" name="Picture 3">
            <a:extLst>
              <a:ext uri="{FF2B5EF4-FFF2-40B4-BE49-F238E27FC236}">
                <a16:creationId xmlns:a16="http://schemas.microsoft.com/office/drawing/2014/main" id="{B2B3E29B-2049-6D88-0219-F99EA67AE630}"/>
              </a:ext>
            </a:extLst>
          </p:cNvPr>
          <p:cNvPicPr>
            <a:picLocks noChangeAspect="1"/>
          </p:cNvPicPr>
          <p:nvPr/>
        </p:nvPicPr>
        <p:blipFill>
          <a:blip r:embed="rId2"/>
          <a:stretch>
            <a:fillRect/>
          </a:stretch>
        </p:blipFill>
        <p:spPr>
          <a:xfrm>
            <a:off x="2544233" y="3577496"/>
            <a:ext cx="4055533" cy="3005866"/>
          </a:xfrm>
          <a:prstGeom prst="rect">
            <a:avLst/>
          </a:prstGeom>
        </p:spPr>
      </p:pic>
      <p:sp>
        <p:nvSpPr>
          <p:cNvPr id="5" name="TextBox 4">
            <a:extLst>
              <a:ext uri="{FF2B5EF4-FFF2-40B4-BE49-F238E27FC236}">
                <a16:creationId xmlns:a16="http://schemas.microsoft.com/office/drawing/2014/main" id="{747DABAB-8D7A-3C5A-B15A-A231E6601705}"/>
              </a:ext>
            </a:extLst>
          </p:cNvPr>
          <p:cNvSpPr txBox="1"/>
          <p:nvPr/>
        </p:nvSpPr>
        <p:spPr>
          <a:xfrm>
            <a:off x="2620724" y="6581001"/>
            <a:ext cx="1341676" cy="276999"/>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(Stack Overflow)</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r>
              <a:rPr dirty="0">
                <a:latin typeface="Times New Roman" panose="02020603050405020304" pitchFamily="18" charset="0"/>
                <a:cs typeface="Times New Roman" panose="02020603050405020304" pitchFamily="18" charset="0"/>
              </a:rPr>
              <a:t>Model Architecture &amp; Design Choices</a:t>
            </a:r>
          </a:p>
        </p:txBody>
      </p:sp>
      <p:sp>
        <p:nvSpPr>
          <p:cNvPr id="3" name="Content Placeholder 2"/>
          <p:cNvSpPr>
            <a:spLocks noGrp="1"/>
          </p:cNvSpPr>
          <p:nvPr>
            <p:ph idx="1"/>
          </p:nvPr>
        </p:nvSpPr>
        <p:spPr>
          <a:xfrm>
            <a:off x="457200" y="1600200"/>
            <a:ext cx="5156791" cy="4983162"/>
          </a:xfrm>
        </p:spPr>
        <p:txBody>
          <a:bodyPr>
            <a:normAutofit/>
          </a:bodyPr>
          <a:lstStyle/>
          <a:p>
            <a:pPr marL="0" indent="0">
              <a:buNone/>
            </a:pPr>
            <a:r>
              <a:rPr lang="en-US" sz="1400" b="1" dirty="0">
                <a:latin typeface="Times New Roman" panose="02020603050405020304" pitchFamily="18" charset="0"/>
                <a:cs typeface="Times New Roman" panose="02020603050405020304" pitchFamily="18" charset="0"/>
              </a:rPr>
              <a:t>Model architecture</a:t>
            </a:r>
            <a:r>
              <a:rPr lang="en-US" sz="1400" dirty="0">
                <a:latin typeface="Times New Roman" panose="02020603050405020304" pitchFamily="18" charset="0"/>
                <a:cs typeface="Times New Roman" panose="02020603050405020304" pitchFamily="18" charset="0"/>
              </a:rPr>
              <a:t>: Stacked LSTM </a:t>
            </a: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r>
              <a:rPr lang="en-US" sz="1400" dirty="0">
                <a:latin typeface="Times New Roman" panose="02020603050405020304" pitchFamily="18" charset="0"/>
                <a:cs typeface="Times New Roman" panose="02020603050405020304" pitchFamily="18" charset="0"/>
              </a:rPr>
              <a:t>Overfitting risks in financial data → heavy focus on reducing overfitting. </a:t>
            </a:r>
          </a:p>
          <a:p>
            <a:pPr marL="0" indent="0">
              <a:buNone/>
            </a:pPr>
            <a:endParaRPr lang="en-US" sz="1400" dirty="0">
              <a:latin typeface="Times New Roman" panose="02020603050405020304" pitchFamily="18" charset="0"/>
              <a:cs typeface="Times New Roman" panose="02020603050405020304" pitchFamily="18" charset="0"/>
            </a:endParaRPr>
          </a:p>
          <a:p>
            <a:pPr marL="0" indent="0">
              <a:buNone/>
            </a:pPr>
            <a:r>
              <a:rPr lang="en-US" sz="1400" b="1" dirty="0">
                <a:latin typeface="Times New Roman" panose="02020603050405020304" pitchFamily="18" charset="0"/>
                <a:cs typeface="Times New Roman" panose="02020603050405020304" pitchFamily="18" charset="0"/>
              </a:rPr>
              <a:t>Important design choices</a:t>
            </a:r>
            <a:r>
              <a:rPr lang="en-US" sz="1400" dirty="0">
                <a:latin typeface="Times New Roman" panose="02020603050405020304" pitchFamily="18" charset="0"/>
                <a:cs typeface="Times New Roman" panose="02020603050405020304" pitchFamily="18" charset="0"/>
              </a:rPr>
              <a:t>: </a:t>
            </a:r>
          </a:p>
          <a:p>
            <a:r>
              <a:rPr lang="en-US" sz="1400" dirty="0">
                <a:latin typeface="Times New Roman" panose="02020603050405020304" pitchFamily="18" charset="0"/>
                <a:cs typeface="Times New Roman" panose="02020603050405020304" pitchFamily="18" charset="0"/>
              </a:rPr>
              <a:t>Huber loss function</a:t>
            </a:r>
          </a:p>
          <a:p>
            <a:pPr lvl="1"/>
            <a:r>
              <a:rPr lang="en-US" sz="1400" dirty="0">
                <a:latin typeface="Times New Roman" panose="02020603050405020304" pitchFamily="18" charset="0"/>
                <a:cs typeface="Times New Roman" panose="02020603050405020304" pitchFamily="18" charset="0"/>
              </a:rPr>
              <a:t>Less sensitive to extreme outliers (which are very common in financial data).</a:t>
            </a:r>
          </a:p>
          <a:p>
            <a:r>
              <a:rPr lang="en-US" sz="1400" dirty="0">
                <a:latin typeface="Times New Roman" panose="02020603050405020304" pitchFamily="18" charset="0"/>
                <a:cs typeface="Times New Roman" panose="02020603050405020304" pitchFamily="18" charset="0"/>
              </a:rPr>
              <a:t>Heavy regularization (reducing noise)</a:t>
            </a:r>
          </a:p>
          <a:p>
            <a:pPr lvl="1"/>
            <a:r>
              <a:rPr lang="en-US" sz="1400" dirty="0">
                <a:latin typeface="Times New Roman" panose="02020603050405020304" pitchFamily="18" charset="0"/>
                <a:cs typeface="Times New Roman" panose="02020603050405020304" pitchFamily="18" charset="0"/>
              </a:rPr>
              <a:t>Kernel and recurrent L2 regularization on all LSTM layers</a:t>
            </a:r>
          </a:p>
          <a:p>
            <a:pPr lvl="1"/>
            <a:r>
              <a:rPr lang="en-US" sz="1400" dirty="0">
                <a:latin typeface="Times New Roman" panose="02020603050405020304" pitchFamily="18" charset="0"/>
                <a:cs typeface="Times New Roman" panose="02020603050405020304" pitchFamily="18" charset="0"/>
              </a:rPr>
              <a:t>Dropout on LSTM layers and dense layers </a:t>
            </a:r>
          </a:p>
          <a:p>
            <a:r>
              <a:rPr lang="en-US" sz="1400" dirty="0">
                <a:latin typeface="Times New Roman" panose="02020603050405020304" pitchFamily="18" charset="0"/>
                <a:cs typeface="Times New Roman" panose="02020603050405020304" pitchFamily="18" charset="0"/>
              </a:rPr>
              <a:t>Model callbacks</a:t>
            </a:r>
          </a:p>
          <a:p>
            <a:pPr lvl="1"/>
            <a:r>
              <a:rPr lang="en-US" sz="1400" dirty="0">
                <a:latin typeface="Times New Roman" panose="02020603050405020304" pitchFamily="18" charset="0"/>
                <a:cs typeface="Times New Roman" panose="02020603050405020304" pitchFamily="18" charset="0"/>
              </a:rPr>
              <a:t>Early stopping to prevent extreme overfitting between epochs</a:t>
            </a:r>
          </a:p>
          <a:p>
            <a:pPr lvl="1"/>
            <a:r>
              <a:rPr lang="en-US" sz="1400" dirty="0">
                <a:latin typeface="Times New Roman" panose="02020603050405020304" pitchFamily="18" charset="0"/>
                <a:cs typeface="Times New Roman" panose="02020603050405020304" pitchFamily="18" charset="0"/>
              </a:rPr>
              <a:t>Learning rate scheduler for continual fine-tuning of weights</a:t>
            </a:r>
          </a:p>
          <a:p>
            <a:r>
              <a:rPr lang="en-US" sz="1400" dirty="0">
                <a:latin typeface="Times New Roman" panose="02020603050405020304" pitchFamily="18" charset="0"/>
                <a:cs typeface="Times New Roman" panose="02020603050405020304" pitchFamily="18" charset="0"/>
              </a:rPr>
              <a:t>Batch size: 32</a:t>
            </a:r>
          </a:p>
          <a:p>
            <a:r>
              <a:rPr lang="en-US" sz="1400" dirty="0">
                <a:latin typeface="Times New Roman" panose="02020603050405020304" pitchFamily="18" charset="0"/>
                <a:cs typeface="Times New Roman" panose="02020603050405020304" pitchFamily="18" charset="0"/>
              </a:rPr>
              <a:t>Epochs: 100 (intentionally high due to early stopping</a:t>
            </a:r>
            <a:r>
              <a:rPr lang="en-US" sz="1400" b="1" dirty="0">
                <a:latin typeface="Times New Roman" panose="02020603050405020304" pitchFamily="18" charset="0"/>
                <a:cs typeface="Times New Roman" panose="02020603050405020304" pitchFamily="18" charset="0"/>
              </a:rPr>
              <a:t>)</a:t>
            </a:r>
            <a:endParaRPr lang="en-US" sz="1400" dirty="0">
              <a:latin typeface="Times New Roman" panose="02020603050405020304" pitchFamily="18" charset="0"/>
              <a:cs typeface="Times New Roman" panose="02020603050405020304" pitchFamily="18" charset="0"/>
            </a:endParaRPr>
          </a:p>
        </p:txBody>
      </p:sp>
      <p:sp>
        <p:nvSpPr>
          <p:cNvPr id="4" name="Content Placeholder 2">
            <a:extLst>
              <a:ext uri="{FF2B5EF4-FFF2-40B4-BE49-F238E27FC236}">
                <a16:creationId xmlns:a16="http://schemas.microsoft.com/office/drawing/2014/main" id="{3B471089-2D02-5B51-8E0E-5397DC9AC772}"/>
              </a:ext>
            </a:extLst>
          </p:cNvPr>
          <p:cNvSpPr txBox="1">
            <a:spLocks/>
          </p:cNvSpPr>
          <p:nvPr/>
        </p:nvSpPr>
        <p:spPr>
          <a:xfrm>
            <a:off x="5826642" y="1715349"/>
            <a:ext cx="2860158" cy="1504542"/>
          </a:xfrm>
          <a:prstGeom prst="rect">
            <a:avLst/>
          </a:prstGeom>
        </p:spPr>
        <p:txBody>
          <a:bodyPr vert="horz" lIns="91440" tIns="45720" rIns="91440" bIns="45720" rtlCol="0">
            <a:normAutofit fontScale="92500"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Font typeface="Arial"/>
              <a:buNone/>
            </a:pPr>
            <a:r>
              <a:rPr lang="en-US" sz="1800" dirty="0">
                <a:latin typeface="Times New Roman" panose="02020603050405020304" pitchFamily="18" charset="0"/>
                <a:cs typeface="Times New Roman" panose="02020603050405020304" pitchFamily="18" charset="0"/>
              </a:rPr>
              <a:t>Nearly every model design choice was made with the intention of reducing overfitting. Financial data is </a:t>
            </a:r>
            <a:r>
              <a:rPr lang="en-US" sz="1800" u="sng" dirty="0">
                <a:latin typeface="Times New Roman" panose="02020603050405020304" pitchFamily="18" charset="0"/>
                <a:cs typeface="Times New Roman" panose="02020603050405020304" pitchFamily="18" charset="0"/>
              </a:rPr>
              <a:t>extremely noisy</a:t>
            </a:r>
            <a:r>
              <a:rPr lang="en-US" sz="1800" dirty="0">
                <a:latin typeface="Times New Roman" panose="02020603050405020304" pitchFamily="18" charset="0"/>
                <a:cs typeface="Times New Roman" panose="02020603050405020304" pitchFamily="18" charset="0"/>
              </a:rPr>
              <a:t>, and hence very easy to overfit. </a:t>
            </a:r>
          </a:p>
        </p:txBody>
      </p:sp>
      <p:pic>
        <p:nvPicPr>
          <p:cNvPr id="8" name="Picture 7" descr="A graph of a function&#10;&#10;AI-generated content may be incorrect.">
            <a:extLst>
              <a:ext uri="{FF2B5EF4-FFF2-40B4-BE49-F238E27FC236}">
                <a16:creationId xmlns:a16="http://schemas.microsoft.com/office/drawing/2014/main" id="{E37C90DF-EB94-3B12-4DCC-EA04012C3F5C}"/>
              </a:ext>
            </a:extLst>
          </p:cNvPr>
          <p:cNvPicPr>
            <a:picLocks noChangeAspect="1"/>
          </p:cNvPicPr>
          <p:nvPr/>
        </p:nvPicPr>
        <p:blipFill>
          <a:blip r:embed="rId2"/>
          <a:stretch>
            <a:fillRect/>
          </a:stretch>
        </p:blipFill>
        <p:spPr>
          <a:xfrm>
            <a:off x="5711058" y="3758575"/>
            <a:ext cx="3091326" cy="2134225"/>
          </a:xfrm>
          <a:prstGeom prst="rect">
            <a:avLst/>
          </a:prstGeom>
        </p:spPr>
      </p:pic>
      <p:sp>
        <p:nvSpPr>
          <p:cNvPr id="5" name="TextBox 4">
            <a:extLst>
              <a:ext uri="{FF2B5EF4-FFF2-40B4-BE49-F238E27FC236}">
                <a16:creationId xmlns:a16="http://schemas.microsoft.com/office/drawing/2014/main" id="{4BFBDADF-CE73-E38B-6943-FB4942864845}"/>
              </a:ext>
            </a:extLst>
          </p:cNvPr>
          <p:cNvSpPr txBox="1"/>
          <p:nvPr/>
        </p:nvSpPr>
        <p:spPr>
          <a:xfrm>
            <a:off x="8005524" y="5892800"/>
            <a:ext cx="989106" cy="276999"/>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(“Huber”)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dirty="0">
                <a:latin typeface="Times New Roman" panose="02020603050405020304" pitchFamily="18" charset="0"/>
                <a:cs typeface="Times New Roman" panose="02020603050405020304" pitchFamily="18" charset="0"/>
              </a:rPr>
              <a:t>Experimental Setup</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a:bodyPr>
              <a:lstStyle/>
              <a:p>
                <a:pPr marL="0" indent="0">
                  <a:buNone/>
                </a:pPr>
                <a:r>
                  <a:rPr lang="en-US" sz="1800" dirty="0">
                    <a:latin typeface="Times New Roman" panose="02020603050405020304" pitchFamily="18" charset="0"/>
                    <a:cs typeface="Times New Roman" panose="02020603050405020304" pitchFamily="18" charset="0"/>
                  </a:rPr>
                  <a:t>A </a:t>
                </a:r>
                <a:r>
                  <a:rPr lang="en-US" sz="1800" b="1" dirty="0">
                    <a:latin typeface="Times New Roman" panose="02020603050405020304" pitchFamily="18" charset="0"/>
                    <a:cs typeface="Times New Roman" panose="02020603050405020304" pitchFamily="18" charset="0"/>
                  </a:rPr>
                  <a:t>train-</a:t>
                </a:r>
                <a:r>
                  <a:rPr lang="en-US" sz="1800" b="1" dirty="0" err="1">
                    <a:latin typeface="Times New Roman" panose="02020603050405020304" pitchFamily="18" charset="0"/>
                    <a:cs typeface="Times New Roman" panose="02020603050405020304" pitchFamily="18" charset="0"/>
                  </a:rPr>
                  <a:t>val</a:t>
                </a:r>
                <a:r>
                  <a:rPr lang="en-US" sz="1800" b="1" dirty="0">
                    <a:latin typeface="Times New Roman" panose="02020603050405020304" pitchFamily="18" charset="0"/>
                    <a:cs typeface="Times New Roman" panose="02020603050405020304" pitchFamily="18" charset="0"/>
                  </a:rPr>
                  <a:t>-test split </a:t>
                </a:r>
                <a:r>
                  <a:rPr lang="en-US" sz="1800" dirty="0">
                    <a:latin typeface="Times New Roman" panose="02020603050405020304" pitchFamily="18" charset="0"/>
                    <a:cs typeface="Times New Roman" panose="02020603050405020304" pitchFamily="18" charset="0"/>
                  </a:rPr>
                  <a:t>of 75%-15%-15% was used (hence the number of training examples being 1815). </a:t>
                </a:r>
              </a:p>
              <a:p>
                <a:pPr marL="0" indent="0">
                  <a:buNone/>
                </a:pPr>
                <a:endParaRPr lang="en-US" sz="1800" dirty="0">
                  <a:latin typeface="Times New Roman" panose="02020603050405020304" pitchFamily="18" charset="0"/>
                  <a:cs typeface="Times New Roman" panose="02020603050405020304" pitchFamily="18" charset="0"/>
                </a:endParaRPr>
              </a:p>
              <a:p>
                <a:pPr marL="0" indent="0">
                  <a:buNone/>
                </a:pPr>
                <a:r>
                  <a:rPr lang="en-US" sz="1800" b="1" dirty="0">
                    <a:latin typeface="Times New Roman" panose="02020603050405020304" pitchFamily="18" charset="0"/>
                    <a:cs typeface="Times New Roman" panose="02020603050405020304" pitchFamily="18" charset="0"/>
                  </a:rPr>
                  <a:t>Evaluation metrics</a:t>
                </a:r>
                <a:r>
                  <a:rPr lang="en-US" sz="1800" dirty="0">
                    <a:latin typeface="Times New Roman" panose="02020603050405020304" pitchFamily="18" charset="0"/>
                    <a:cs typeface="Times New Roman" panose="02020603050405020304" pitchFamily="18" charset="0"/>
                  </a:rPr>
                  <a:t>: </a:t>
                </a:r>
              </a:p>
              <a:p>
                <a14:m>
                  <m:oMath xmlns:m="http://schemas.openxmlformats.org/officeDocument/2006/math">
                    <m:r>
                      <a:rPr lang="en-US" sz="1800" b="0" i="1" smtClean="0">
                        <a:latin typeface="Cambria Math" panose="02040503050406030204" pitchFamily="18" charset="0"/>
                        <a:cs typeface="Times New Roman" panose="02020603050405020304" pitchFamily="18" charset="0"/>
                      </a:rPr>
                      <m:t>𝑅𝑀𝑆𝐸</m:t>
                    </m:r>
                  </m:oMath>
                </a14:m>
                <a:r>
                  <a:rPr lang="en-US" sz="1800" dirty="0">
                    <a:latin typeface="Times New Roman" panose="02020603050405020304" pitchFamily="18" charset="0"/>
                    <a:cs typeface="Times New Roman" panose="02020603050405020304" pitchFamily="18" charset="0"/>
                  </a:rPr>
                  <a:t> is used as an error metric given in the original units (dollars). </a:t>
                </a:r>
              </a:p>
              <a:p>
                <a14:m>
                  <m:oMath xmlns:m="http://schemas.openxmlformats.org/officeDocument/2006/math">
                    <m:sSup>
                      <m:sSupPr>
                        <m:ctrlPr>
                          <a:rPr lang="en-US" sz="1800" b="0" i="1" smtClean="0">
                            <a:latin typeface="Cambria Math" panose="02040503050406030204" pitchFamily="18" charset="0"/>
                            <a:cs typeface="Times New Roman" panose="02020603050405020304" pitchFamily="18" charset="0"/>
                          </a:rPr>
                        </m:ctrlPr>
                      </m:sSupPr>
                      <m:e>
                        <m:r>
                          <a:rPr lang="en-US" sz="1800" b="0" i="1" smtClean="0">
                            <a:latin typeface="Cambria Math" panose="02040503050406030204" pitchFamily="18" charset="0"/>
                            <a:cs typeface="Times New Roman" panose="02020603050405020304" pitchFamily="18" charset="0"/>
                          </a:rPr>
                          <m:t>𝑅</m:t>
                        </m:r>
                      </m:e>
                      <m:sup>
                        <m:r>
                          <a:rPr lang="en-US" sz="1800" b="0" i="1" smtClean="0">
                            <a:latin typeface="Cambria Math" panose="02040503050406030204" pitchFamily="18" charset="0"/>
                            <a:cs typeface="Times New Roman" panose="02020603050405020304" pitchFamily="18" charset="0"/>
                          </a:rPr>
                          <m:t>2</m:t>
                        </m:r>
                      </m:sup>
                    </m:sSup>
                  </m:oMath>
                </a14:m>
                <a:r>
                  <a:rPr lang="en-US" sz="1800" b="0" dirty="0">
                    <a:latin typeface="Times New Roman" panose="02020603050405020304" pitchFamily="18" charset="0"/>
                    <a:cs typeface="Times New Roman" panose="02020603050405020304" pitchFamily="18" charset="0"/>
                  </a:rPr>
                  <a:t> is used as a scale-independent metric (doesn’t depend on price).</a:t>
                </a:r>
              </a:p>
              <a:p>
                <a:pPr marL="0" indent="0">
                  <a:buNone/>
                </a:pPr>
                <a:r>
                  <a:rPr lang="en-US" sz="1800" dirty="0">
                    <a:latin typeface="Times New Roman" panose="02020603050405020304" pitchFamily="18" charset="0"/>
                    <a:cs typeface="Times New Roman" panose="02020603050405020304" pitchFamily="18" charset="0"/>
                  </a:rPr>
                  <a:t>Having both a scale-dependent and a scale-independent metric allows for a fair assessment of both absolute predictive accuracy and relative performance across sectors</a:t>
                </a:r>
              </a:p>
              <a:p>
                <a:pPr marL="0" indent="0">
                  <a:buNone/>
                </a:pPr>
                <a:endParaRPr lang="en-US" sz="1800" dirty="0">
                  <a:latin typeface="Times New Roman" panose="02020603050405020304" pitchFamily="18" charset="0"/>
                  <a:cs typeface="Times New Roman" panose="02020603050405020304" pitchFamily="18" charset="0"/>
                </a:endParaRPr>
              </a:p>
              <a:p>
                <a:pPr marL="0" indent="0">
                  <a:buNone/>
                </a:pPr>
                <a:r>
                  <a:rPr lang="en-US" sz="1800" b="1" dirty="0">
                    <a:latin typeface="Times New Roman" panose="02020603050405020304" pitchFamily="18" charset="0"/>
                    <a:cs typeface="Times New Roman" panose="02020603050405020304" pitchFamily="18" charset="0"/>
                  </a:rPr>
                  <a:t>Implementation details</a:t>
                </a:r>
                <a:r>
                  <a:rPr lang="en-US" sz="1800" dirty="0">
                    <a:latin typeface="Times New Roman" panose="02020603050405020304" pitchFamily="18" charset="0"/>
                    <a:cs typeface="Times New Roman" panose="02020603050405020304" pitchFamily="18" charset="0"/>
                  </a:rPr>
                  <a:t>:</a:t>
                </a:r>
                <a:r>
                  <a:rPr lang="en-US" sz="1800" b="1" dirty="0">
                    <a:latin typeface="Times New Roman" panose="02020603050405020304" pitchFamily="18" charset="0"/>
                    <a:cs typeface="Times New Roman" panose="02020603050405020304" pitchFamily="18" charset="0"/>
                  </a:rPr>
                  <a:t> </a:t>
                </a:r>
              </a:p>
              <a:p>
                <a:r>
                  <a:rPr lang="en-US" sz="1800" dirty="0">
                    <a:latin typeface="Times New Roman" panose="02020603050405020304" pitchFamily="18" charset="0"/>
                    <a:cs typeface="Times New Roman" panose="02020603050405020304" pitchFamily="18" charset="0"/>
                  </a:rPr>
                  <a:t>IDE: Google </a:t>
                </a:r>
                <a:r>
                  <a:rPr lang="en-US" sz="1800" dirty="0" err="1">
                    <a:latin typeface="Times New Roman" panose="02020603050405020304" pitchFamily="18" charset="0"/>
                    <a:cs typeface="Times New Roman" panose="02020603050405020304" pitchFamily="18" charset="0"/>
                  </a:rPr>
                  <a:t>Colab</a:t>
                </a:r>
                <a:r>
                  <a:rPr lang="en-US" sz="1800" dirty="0">
                    <a:latin typeface="Times New Roman" panose="02020603050405020304" pitchFamily="18" charset="0"/>
                    <a:cs typeface="Times New Roman" panose="02020603050405020304" pitchFamily="18" charset="0"/>
                  </a:rPr>
                  <a:t> was used for ease of dependency management. </a:t>
                </a:r>
              </a:p>
              <a:p>
                <a:r>
                  <a:rPr lang="en-US" sz="1800" dirty="0">
                    <a:latin typeface="Times New Roman" panose="02020603050405020304" pitchFamily="18" charset="0"/>
                    <a:cs typeface="Times New Roman" panose="02020603050405020304" pitchFamily="18" charset="0"/>
                  </a:rPr>
                  <a:t>Framework: The model was implemented using </a:t>
                </a:r>
                <a:r>
                  <a:rPr lang="en-US" sz="1800" dirty="0" err="1">
                    <a:latin typeface="Times New Roman" panose="02020603050405020304" pitchFamily="18" charset="0"/>
                    <a:cs typeface="Times New Roman" panose="02020603050405020304" pitchFamily="18" charset="0"/>
                  </a:rPr>
                  <a:t>Keras</a:t>
                </a:r>
                <a:r>
                  <a:rPr lang="en-US" sz="1800" dirty="0">
                    <a:latin typeface="Times New Roman" panose="02020603050405020304" pitchFamily="18" charset="0"/>
                    <a:cs typeface="Times New Roman" panose="02020603050405020304" pitchFamily="18" charset="0"/>
                  </a:rPr>
                  <a:t> in Python. </a:t>
                </a:r>
              </a:p>
              <a:p>
                <a:r>
                  <a:rPr lang="en-US" sz="1800" dirty="0">
                    <a:latin typeface="Times New Roman" panose="02020603050405020304" pitchFamily="18" charset="0"/>
                    <a:cs typeface="Times New Roman" panose="02020603050405020304" pitchFamily="18" charset="0"/>
                  </a:rPr>
                  <a:t>Hardware: A (virtual) T4 GPU was used for quicker training and prediction.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617" t="-840" b="-840"/>
                </a:stretch>
              </a:blipFill>
            </p:spPr>
            <p:txBody>
              <a:bodyPr/>
              <a:lstStyle/>
              <a:p>
                <a:r>
                  <a:rPr lang="en-US">
                    <a:noFill/>
                  </a:rPr>
                  <a:t> </a:t>
                </a:r>
              </a:p>
            </p:txBody>
          </p:sp>
        </mc:Fallback>
      </mc:AlternateContent>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dirty="0">
                <a:latin typeface="Times New Roman" panose="02020603050405020304" pitchFamily="18" charset="0"/>
                <a:cs typeface="Times New Roman" panose="02020603050405020304" pitchFamily="18" charset="0"/>
              </a:rPr>
              <a:t>Key Results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457200" y="3939363"/>
                <a:ext cx="8229600" cy="2757770"/>
              </a:xfrm>
            </p:spPr>
            <p:txBody>
              <a:bodyPr>
                <a:normAutofit fontScale="85000" lnSpcReduction="10000"/>
              </a:bodyPr>
              <a:lstStyle/>
              <a:p>
                <a:pPr marL="0" indent="0">
                  <a:buNone/>
                </a:pPr>
                <a:r>
                  <a:rPr lang="en-US" sz="1800" dirty="0">
                    <a:latin typeface="Times New Roman" panose="02020603050405020304" pitchFamily="18" charset="0"/>
                    <a:cs typeface="Times New Roman" panose="02020603050405020304" pitchFamily="18" charset="0"/>
                  </a:rPr>
                  <a:t>Best-performing model: 2-layer LSTM</a:t>
                </a:r>
              </a:p>
              <a:p>
                <a:r>
                  <a:rPr lang="en-US" sz="1800" b="1" dirty="0">
                    <a:latin typeface="Times New Roman" panose="02020603050405020304" pitchFamily="18" charset="0"/>
                    <a:cs typeface="Times New Roman" panose="02020603050405020304" pitchFamily="18" charset="0"/>
                  </a:rPr>
                  <a:t>Average test </a:t>
                </a:r>
                <a14:m>
                  <m:oMath xmlns:m="http://schemas.openxmlformats.org/officeDocument/2006/math">
                    <m:r>
                      <a:rPr lang="en-US" sz="1800" b="1" i="1">
                        <a:latin typeface="Cambria Math" panose="02040503050406030204" pitchFamily="18" charset="0"/>
                        <a:cs typeface="Times New Roman" panose="02020603050405020304" pitchFamily="18" charset="0"/>
                      </a:rPr>
                      <m:t>𝑹𝑴𝑺𝑬</m:t>
                    </m:r>
                  </m:oMath>
                </a14:m>
                <a:r>
                  <a:rPr lang="en-US" sz="1800" b="1" dirty="0">
                    <a:latin typeface="Times New Roman" panose="02020603050405020304" pitchFamily="18" charset="0"/>
                    <a:cs typeface="Times New Roman" panose="02020603050405020304" pitchFamily="18" charset="0"/>
                  </a:rPr>
                  <a:t> = $3.02</a:t>
                </a:r>
              </a:p>
              <a:p>
                <a:r>
                  <a:rPr lang="en-US" sz="1800" b="1" dirty="0">
                    <a:latin typeface="Times New Roman" panose="02020603050405020304" pitchFamily="18" charset="0"/>
                    <a:cs typeface="Times New Roman" panose="02020603050405020304" pitchFamily="18" charset="0"/>
                  </a:rPr>
                  <a:t>Average test </a:t>
                </a:r>
                <a14:m>
                  <m:oMath xmlns:m="http://schemas.openxmlformats.org/officeDocument/2006/math">
                    <m:sSup>
                      <m:sSupPr>
                        <m:ctrlPr>
                          <a:rPr lang="en-US" sz="1800" b="1" i="1" smtClean="0">
                            <a:latin typeface="Cambria Math" panose="02040503050406030204" pitchFamily="18" charset="0"/>
                            <a:cs typeface="Times New Roman" panose="02020603050405020304" pitchFamily="18" charset="0"/>
                          </a:rPr>
                        </m:ctrlPr>
                      </m:sSupPr>
                      <m:e>
                        <m:r>
                          <a:rPr lang="en-US" sz="1800" b="1" i="1">
                            <a:latin typeface="Cambria Math" panose="02040503050406030204" pitchFamily="18" charset="0"/>
                            <a:cs typeface="Times New Roman" panose="02020603050405020304" pitchFamily="18" charset="0"/>
                          </a:rPr>
                          <m:t>𝑹</m:t>
                        </m:r>
                      </m:e>
                      <m:sup>
                        <m:r>
                          <a:rPr lang="en-US" sz="1800" b="1" i="1">
                            <a:latin typeface="Cambria Math" panose="02040503050406030204" pitchFamily="18" charset="0"/>
                            <a:cs typeface="Times New Roman" panose="02020603050405020304" pitchFamily="18" charset="0"/>
                          </a:rPr>
                          <m:t>𝟐</m:t>
                        </m:r>
                      </m:sup>
                    </m:sSup>
                  </m:oMath>
                </a14:m>
                <a:r>
                  <a:rPr lang="en-US" sz="1800" b="1" dirty="0">
                    <a:latin typeface="Times New Roman" panose="02020603050405020304" pitchFamily="18" charset="0"/>
                    <a:cs typeface="Times New Roman" panose="02020603050405020304" pitchFamily="18" charset="0"/>
                  </a:rPr>
                  <a:t> = 0.82 </a:t>
                </a:r>
              </a:p>
              <a:p>
                <a:pPr marL="0" indent="0">
                  <a:buNone/>
                </a:pPr>
                <a:r>
                  <a:rPr lang="en-US" sz="1800" dirty="0">
                    <a:latin typeface="Times New Roman" panose="02020603050405020304" pitchFamily="18" charset="0"/>
                    <a:cs typeface="Times New Roman" panose="02020603050405020304" pitchFamily="18" charset="0"/>
                  </a:rPr>
                  <a:t>Interpretation:</a:t>
                </a:r>
              </a:p>
              <a:p>
                <a:r>
                  <a:rPr lang="en-US" sz="1800" dirty="0">
                    <a:latin typeface="Times New Roman" panose="02020603050405020304" pitchFamily="18" charset="0"/>
                    <a:cs typeface="Times New Roman" panose="02020603050405020304" pitchFamily="18" charset="0"/>
                  </a:rPr>
                  <a:t>A low average test </a:t>
                </a:r>
                <a14:m>
                  <m:oMath xmlns:m="http://schemas.openxmlformats.org/officeDocument/2006/math">
                    <m:r>
                      <a:rPr lang="en-US" sz="1800" i="1">
                        <a:latin typeface="Cambria Math" panose="02040503050406030204" pitchFamily="18" charset="0"/>
                        <a:cs typeface="Times New Roman" panose="02020603050405020304" pitchFamily="18" charset="0"/>
                      </a:rPr>
                      <m:t>𝑅𝑀𝑆𝐸</m:t>
                    </m:r>
                  </m:oMath>
                </a14:m>
                <a:r>
                  <a:rPr lang="en-US" sz="1800" dirty="0">
                    <a:latin typeface="Times New Roman" panose="02020603050405020304" pitchFamily="18" charset="0"/>
                    <a:cs typeface="Times New Roman" panose="02020603050405020304" pitchFamily="18" charset="0"/>
                  </a:rPr>
                  <a:t> indicates the model predicts next-day prices across ETFs with low error.  </a:t>
                </a:r>
              </a:p>
              <a:p>
                <a:r>
                  <a:rPr lang="en-US" sz="1800" dirty="0">
                    <a:latin typeface="Times New Roman" panose="02020603050405020304" pitchFamily="18" charset="0"/>
                    <a:cs typeface="Times New Roman" panose="02020603050405020304" pitchFamily="18" charset="0"/>
                  </a:rPr>
                  <a:t>A high average test </a:t>
                </a:r>
                <a14:m>
                  <m:oMath xmlns:m="http://schemas.openxmlformats.org/officeDocument/2006/math">
                    <m:sSup>
                      <m:sSupPr>
                        <m:ctrlPr>
                          <a:rPr lang="en-US" sz="1800" i="1">
                            <a:latin typeface="Cambria Math" panose="02040503050406030204" pitchFamily="18" charset="0"/>
                            <a:cs typeface="Times New Roman" panose="02020603050405020304" pitchFamily="18" charset="0"/>
                          </a:rPr>
                        </m:ctrlPr>
                      </m:sSupPr>
                      <m:e>
                        <m:r>
                          <a:rPr lang="en-US" sz="1800" i="1">
                            <a:latin typeface="Cambria Math" panose="02040503050406030204" pitchFamily="18" charset="0"/>
                            <a:cs typeface="Times New Roman" panose="02020603050405020304" pitchFamily="18" charset="0"/>
                          </a:rPr>
                          <m:t>𝑅</m:t>
                        </m:r>
                      </m:e>
                      <m:sup>
                        <m:r>
                          <a:rPr lang="en-US" sz="1800" i="1">
                            <a:latin typeface="Cambria Math" panose="02040503050406030204" pitchFamily="18" charset="0"/>
                            <a:cs typeface="Times New Roman" panose="02020603050405020304" pitchFamily="18" charset="0"/>
                          </a:rPr>
                          <m:t>2</m:t>
                        </m:r>
                      </m:sup>
                    </m:sSup>
                  </m:oMath>
                </a14:m>
                <a:r>
                  <a:rPr lang="en-US" sz="1800" dirty="0">
                    <a:latin typeface="Times New Roman" panose="02020603050405020304" pitchFamily="18" charset="0"/>
                    <a:cs typeface="Times New Roman" panose="02020603050405020304" pitchFamily="18" charset="0"/>
                  </a:rPr>
                  <a:t> (with only moderate variation of</a:t>
                </a:r>
                <a:r>
                  <a:rPr lang="en-US" sz="1800" dirty="0">
                    <a:cs typeface="Times New Roman" panose="02020603050405020304" pitchFamily="18" charset="0"/>
                  </a:rPr>
                  <a:t> </a:t>
                </a:r>
                <a14:m>
                  <m:oMath xmlns:m="http://schemas.openxmlformats.org/officeDocument/2006/math">
                    <m:sSup>
                      <m:sSupPr>
                        <m:ctrlPr>
                          <a:rPr lang="en-US" sz="1800" i="1">
                            <a:latin typeface="Cambria Math" panose="02040503050406030204" pitchFamily="18" charset="0"/>
                            <a:cs typeface="Times New Roman" panose="02020603050405020304" pitchFamily="18" charset="0"/>
                          </a:rPr>
                        </m:ctrlPr>
                      </m:sSupPr>
                      <m:e>
                        <m:r>
                          <a:rPr lang="en-US" sz="1800" i="1">
                            <a:latin typeface="Cambria Math" panose="02040503050406030204" pitchFamily="18" charset="0"/>
                            <a:cs typeface="Times New Roman" panose="02020603050405020304" pitchFamily="18" charset="0"/>
                          </a:rPr>
                          <m:t>𝑅</m:t>
                        </m:r>
                      </m:e>
                      <m:sup>
                        <m:r>
                          <a:rPr lang="en-US" sz="1800" i="1">
                            <a:latin typeface="Cambria Math" panose="02040503050406030204" pitchFamily="18" charset="0"/>
                            <a:cs typeface="Times New Roman" panose="02020603050405020304" pitchFamily="18" charset="0"/>
                          </a:rPr>
                          <m:t>2</m:t>
                        </m:r>
                      </m:sup>
                    </m:sSup>
                  </m:oMath>
                </a14:m>
                <a:r>
                  <a:rPr lang="en-US" sz="1800" dirty="0">
                    <a:latin typeface="Times New Roman" panose="02020603050405020304" pitchFamily="18" charset="0"/>
                    <a:cs typeface="Times New Roman" panose="02020603050405020304" pitchFamily="18" charset="0"/>
                  </a:rPr>
                  <a:t> values) indicates the model is predicting each ETF’s prices with a high degree of consistency and explanatory accuracy across sectors.</a:t>
                </a:r>
              </a:p>
              <a:p>
                <a:r>
                  <a:rPr lang="en-US" sz="1800" dirty="0">
                    <a:latin typeface="Times New Roman" panose="02020603050405020304" pitchFamily="18" charset="0"/>
                    <a:cs typeface="Times New Roman" panose="02020603050405020304" pitchFamily="18" charset="0"/>
                  </a:rPr>
                  <a:t>Performance of the model on each individual ETF can be analyzed to see which sectors are better predicted by the data. </a:t>
                </a:r>
              </a:p>
              <a:p>
                <a:pPr marL="0" indent="0">
                  <a:buNone/>
                </a:pPr>
                <a:r>
                  <a:rPr lang="en-US" sz="1800" b="1" dirty="0">
                    <a:latin typeface="Times New Roman" panose="02020603050405020304" pitchFamily="18" charset="0"/>
                    <a:cs typeface="Times New Roman" panose="02020603050405020304" pitchFamily="18" charset="0"/>
                  </a:rPr>
                  <a:t>Takeaway</a:t>
                </a:r>
                <a:r>
                  <a:rPr lang="en-US" sz="1800" dirty="0">
                    <a:latin typeface="Times New Roman" panose="02020603050405020304" pitchFamily="18" charset="0"/>
                    <a:cs typeface="Times New Roman" panose="02020603050405020304" pitchFamily="18" charset="0"/>
                  </a:rPr>
                  <a:t>: The model generalizes well to unseen data and captures cross-sector dependencies effectively. </a:t>
                </a:r>
                <a:endParaRPr sz="1800" dirty="0">
                  <a:latin typeface="Times New Roman" panose="02020603050405020304" pitchFamily="18" charset="0"/>
                  <a:cs typeface="Times New Roman" panose="02020603050405020304" pitchFamily="18" charset="0"/>
                </a:endParaRP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457200" y="3939363"/>
                <a:ext cx="8229600" cy="2757770"/>
              </a:xfrm>
              <a:blipFill>
                <a:blip r:embed="rId2"/>
                <a:stretch>
                  <a:fillRect l="-309" t="-917"/>
                </a:stretch>
              </a:blipFill>
            </p:spPr>
            <p:txBody>
              <a:bodyPr/>
              <a:lstStyle/>
              <a:p>
                <a:r>
                  <a:rPr lang="en-US">
                    <a:noFill/>
                  </a:rPr>
                  <a:t> </a:t>
                </a:r>
              </a:p>
            </p:txBody>
          </p:sp>
        </mc:Fallback>
      </mc:AlternateContent>
      <p:pic>
        <p:nvPicPr>
          <p:cNvPr id="5" name="Picture 4" descr="A comparison of a bar graph&#10;&#10;AI-generated content may be incorrect.">
            <a:extLst>
              <a:ext uri="{FF2B5EF4-FFF2-40B4-BE49-F238E27FC236}">
                <a16:creationId xmlns:a16="http://schemas.microsoft.com/office/drawing/2014/main" id="{0B0B5A05-7303-272A-A722-CF5C4EB3DAE8}"/>
              </a:ext>
            </a:extLst>
          </p:cNvPr>
          <p:cNvPicPr>
            <a:picLocks noChangeAspect="1"/>
          </p:cNvPicPr>
          <p:nvPr/>
        </p:nvPicPr>
        <p:blipFill>
          <a:blip r:embed="rId3"/>
          <a:stretch>
            <a:fillRect/>
          </a:stretch>
        </p:blipFill>
        <p:spPr>
          <a:xfrm>
            <a:off x="685800" y="1417638"/>
            <a:ext cx="7772400" cy="25908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51155-884A-E1CD-754B-61512E2BC9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89F8EB-FB70-7E54-24C5-A881A0A55B48}"/>
              </a:ext>
            </a:extLst>
          </p:cNvPr>
          <p:cNvSpPr>
            <a:spLocks noGrp="1"/>
          </p:cNvSpPr>
          <p:nvPr>
            <p:ph type="title"/>
          </p:nvPr>
        </p:nvSpPr>
        <p:spPr/>
        <p:txBody>
          <a:bodyPr/>
          <a:lstStyle/>
          <a:p>
            <a:r>
              <a:rPr dirty="0">
                <a:latin typeface="Times New Roman" panose="02020603050405020304" pitchFamily="18" charset="0"/>
                <a:cs typeface="Times New Roman" panose="02020603050405020304" pitchFamily="18" charset="0"/>
              </a:rPr>
              <a:t>Visualizations</a:t>
            </a:r>
            <a:r>
              <a:rPr lang="en-US" dirty="0">
                <a:latin typeface="Times New Roman" panose="02020603050405020304" pitchFamily="18" charset="0"/>
                <a:cs typeface="Times New Roman" panose="02020603050405020304" pitchFamily="18" charset="0"/>
              </a:rPr>
              <a:t>: Training Curve</a:t>
            </a:r>
            <a:endParaRPr dirty="0">
              <a:latin typeface="Times New Roman" panose="02020603050405020304" pitchFamily="18" charset="0"/>
              <a:cs typeface="Times New Roman" panose="02020603050405020304" pitchFamily="18" charset="0"/>
            </a:endParaRPr>
          </a:p>
        </p:txBody>
      </p:sp>
      <p:sp>
        <p:nvSpPr>
          <p:cNvPr id="6" name="Content Placeholder 2">
            <a:extLst>
              <a:ext uri="{FF2B5EF4-FFF2-40B4-BE49-F238E27FC236}">
                <a16:creationId xmlns:a16="http://schemas.microsoft.com/office/drawing/2014/main" id="{419E173D-21DC-8C20-F192-28E9D3EA99F5}"/>
              </a:ext>
            </a:extLst>
          </p:cNvPr>
          <p:cNvSpPr txBox="1">
            <a:spLocks/>
          </p:cNvSpPr>
          <p:nvPr/>
        </p:nvSpPr>
        <p:spPr>
          <a:xfrm>
            <a:off x="170121" y="5151627"/>
            <a:ext cx="8973879" cy="1440202"/>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1600" b="1" dirty="0">
                <a:latin typeface="Times New Roman" panose="02020603050405020304" pitchFamily="18" charset="0"/>
                <a:cs typeface="Times New Roman" panose="02020603050405020304" pitchFamily="18" charset="0"/>
              </a:rPr>
              <a:t>Takeaway</a:t>
            </a:r>
            <a:r>
              <a:rPr lang="en-US" sz="1600" dirty="0">
                <a:latin typeface="Times New Roman" panose="02020603050405020304" pitchFamily="18" charset="0"/>
                <a:cs typeface="Times New Roman" panose="02020603050405020304" pitchFamily="18" charset="0"/>
              </a:rPr>
              <a:t>: Decreasing training curves with validation loss consistent with training loss show that the model has effectively learned patterns in the data.</a:t>
            </a:r>
          </a:p>
          <a:p>
            <a:pPr marL="0" indent="0">
              <a:buNone/>
            </a:pPr>
            <a:endParaRPr lang="en-US" sz="1600" dirty="0">
              <a:latin typeface="Times New Roman" panose="02020603050405020304" pitchFamily="18" charset="0"/>
              <a:cs typeface="Times New Roman" panose="02020603050405020304" pitchFamily="18" charset="0"/>
            </a:endParaRPr>
          </a:p>
          <a:p>
            <a:pPr marL="0" indent="0">
              <a:buNone/>
            </a:pPr>
            <a:r>
              <a:rPr lang="en-US" sz="1600" dirty="0">
                <a:latin typeface="Times New Roman" panose="02020603050405020304" pitchFamily="18" charset="0"/>
                <a:cs typeface="Times New Roman" panose="02020603050405020304" pitchFamily="18" charset="0"/>
              </a:rPr>
              <a:t>Note: Early stopping halted training after ~55 epochs due to low marginal decreases in loss (the model typically stops training between epochs 40 and 60). </a:t>
            </a:r>
          </a:p>
          <a:p>
            <a:endParaRPr lang="en-US" sz="1600" dirty="0">
              <a:latin typeface="Times New Roman" panose="02020603050405020304" pitchFamily="18" charset="0"/>
              <a:cs typeface="Times New Roman" panose="02020603050405020304" pitchFamily="18" charset="0"/>
            </a:endParaRPr>
          </a:p>
        </p:txBody>
      </p:sp>
      <p:pic>
        <p:nvPicPr>
          <p:cNvPr id="10" name="Content Placeholder 9" descr="A graph with blue and orange lines&#10;&#10;AI-generated content may be incorrect.">
            <a:extLst>
              <a:ext uri="{FF2B5EF4-FFF2-40B4-BE49-F238E27FC236}">
                <a16:creationId xmlns:a16="http://schemas.microsoft.com/office/drawing/2014/main" id="{0CF0E163-FC91-3380-53E8-775B72224A8F}"/>
              </a:ext>
            </a:extLst>
          </p:cNvPr>
          <p:cNvPicPr>
            <a:picLocks noGrp="1" noChangeAspect="1"/>
          </p:cNvPicPr>
          <p:nvPr>
            <p:ph idx="1"/>
          </p:nvPr>
        </p:nvPicPr>
        <p:blipFill>
          <a:blip r:embed="rId2"/>
          <a:stretch>
            <a:fillRect/>
          </a:stretch>
        </p:blipFill>
        <p:spPr>
          <a:xfrm>
            <a:off x="2567763" y="1417638"/>
            <a:ext cx="4008473" cy="3725522"/>
          </a:xfrm>
        </p:spPr>
      </p:pic>
    </p:spTree>
    <p:extLst>
      <p:ext uri="{BB962C8B-B14F-4D97-AF65-F5344CB8AC3E}">
        <p14:creationId xmlns:p14="http://schemas.microsoft.com/office/powerpoint/2010/main" val="9550024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60085D-3295-38DD-2A8E-283B7CAE78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BA2807-2E68-7585-6D00-B8D74FEBA8BA}"/>
              </a:ext>
            </a:extLst>
          </p:cNvPr>
          <p:cNvSpPr>
            <a:spLocks noGrp="1"/>
          </p:cNvSpPr>
          <p:nvPr>
            <p:ph type="title"/>
          </p:nvPr>
        </p:nvSpPr>
        <p:spPr/>
        <p:txBody>
          <a:bodyPr>
            <a:normAutofit fontScale="90000"/>
          </a:bodyPr>
          <a:lstStyle/>
          <a:p>
            <a:r>
              <a:rPr dirty="0">
                <a:latin typeface="Times New Roman" panose="02020603050405020304" pitchFamily="18" charset="0"/>
                <a:cs typeface="Times New Roman" panose="02020603050405020304" pitchFamily="18" charset="0"/>
              </a:rPr>
              <a:t>Visualizations</a:t>
            </a:r>
            <a:r>
              <a:rPr lang="en-US" dirty="0">
                <a:latin typeface="Times New Roman" panose="02020603050405020304" pitchFamily="18" charset="0"/>
                <a:cs typeface="Times New Roman" panose="02020603050405020304" pitchFamily="18" charset="0"/>
              </a:rPr>
              <a:t>: Test Period Predictions</a:t>
            </a:r>
            <a:endParaRPr dirty="0">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ED465DE-704F-97B1-BFED-2E53AC84EC1B}"/>
                  </a:ext>
                </a:extLst>
              </p:cNvPr>
              <p:cNvSpPr>
                <a:spLocks noGrp="1"/>
              </p:cNvSpPr>
              <p:nvPr>
                <p:ph idx="1"/>
              </p:nvPr>
            </p:nvSpPr>
            <p:spPr>
              <a:xfrm>
                <a:off x="6889898" y="1933708"/>
                <a:ext cx="2158408" cy="3880882"/>
              </a:xfrm>
            </p:spPr>
            <p:txBody>
              <a:bodyPr>
                <a:normAutofit fontScale="85000" lnSpcReduction="10000"/>
              </a:bodyPr>
              <a:lstStyle/>
              <a:p>
                <a:pPr marL="0" indent="0">
                  <a:buNone/>
                </a:pPr>
                <a:r>
                  <a:rPr lang="en-US" sz="1800" b="1" dirty="0">
                    <a:latin typeface="Times New Roman" panose="02020603050405020304" pitchFamily="18" charset="0"/>
                    <a:cs typeface="Times New Roman" panose="02020603050405020304" pitchFamily="18" charset="0"/>
                  </a:rPr>
                  <a:t>Takeaway</a:t>
                </a:r>
                <a:r>
                  <a:rPr lang="en-US" sz="1800" dirty="0">
                    <a:latin typeface="Times New Roman" panose="02020603050405020304" pitchFamily="18" charset="0"/>
                    <a:cs typeface="Times New Roman" panose="02020603050405020304" pitchFamily="18" charset="0"/>
                  </a:rPr>
                  <a:t>: The test period predictions all seem to match the actual data closely, with some ETFs showing better performance than others. </a:t>
                </a:r>
              </a:p>
              <a:p>
                <a:pPr marL="0" indent="0">
                  <a:buNone/>
                </a:pPr>
                <a:endParaRPr lang="en-US" sz="1800" dirty="0">
                  <a:latin typeface="Times New Roman" panose="02020603050405020304" pitchFamily="18" charset="0"/>
                  <a:cs typeface="Times New Roman" panose="02020603050405020304" pitchFamily="18" charset="0"/>
                </a:endParaRPr>
              </a:p>
              <a:p>
                <a:pPr marL="0" indent="0">
                  <a:buNone/>
                </a:pPr>
                <a:r>
                  <a:rPr lang="en-US" sz="1800" dirty="0">
                    <a:latin typeface="Times New Roman" panose="02020603050405020304" pitchFamily="18" charset="0"/>
                    <a:cs typeface="Times New Roman" panose="02020603050405020304" pitchFamily="18" charset="0"/>
                  </a:rPr>
                  <a:t>XLV, XLI, and XLB show particularly good performance (they have low </a:t>
                </a:r>
                <a14:m>
                  <m:oMath xmlns:m="http://schemas.openxmlformats.org/officeDocument/2006/math">
                    <m:r>
                      <a:rPr lang="en-US" sz="1800" b="0" i="1" smtClean="0">
                        <a:latin typeface="Cambria Math" panose="02040503050406030204" pitchFamily="18" charset="0"/>
                        <a:cs typeface="Times New Roman" panose="02020603050405020304" pitchFamily="18" charset="0"/>
                      </a:rPr>
                      <m:t>𝑅𝑀𝑆𝐸</m:t>
                    </m:r>
                  </m:oMath>
                </a14:m>
                <a:r>
                  <a:rPr lang="en-US" sz="1800" dirty="0">
                    <a:latin typeface="Times New Roman" panose="02020603050405020304" pitchFamily="18" charset="0"/>
                    <a:cs typeface="Times New Roman" panose="02020603050405020304" pitchFamily="18" charset="0"/>
                  </a:rPr>
                  <a:t> values). </a:t>
                </a:r>
              </a:p>
              <a:p>
                <a:pPr marL="0" indent="0">
                  <a:buNone/>
                </a:pPr>
                <a:endParaRPr lang="en-US" sz="1800" dirty="0">
                  <a:latin typeface="Times New Roman" panose="02020603050405020304" pitchFamily="18" charset="0"/>
                  <a:cs typeface="Times New Roman" panose="02020603050405020304" pitchFamily="18" charset="0"/>
                </a:endParaRPr>
              </a:p>
              <a:p>
                <a:pPr marL="0" indent="0">
                  <a:buNone/>
                </a:pPr>
                <a:r>
                  <a:rPr lang="en-US" sz="1800" dirty="0">
                    <a:latin typeface="Times New Roman" panose="02020603050405020304" pitchFamily="18" charset="0"/>
                    <a:cs typeface="Times New Roman" panose="02020603050405020304" pitchFamily="18" charset="0"/>
                  </a:rPr>
                  <a:t>XLE, XLK, XLY have periods where the model struggles to accurately predict prices (these had higher </a:t>
                </a:r>
                <a14:m>
                  <m:oMath xmlns:m="http://schemas.openxmlformats.org/officeDocument/2006/math">
                    <m:r>
                      <a:rPr lang="en-US" sz="1800" b="0" i="1" smtClean="0">
                        <a:latin typeface="Cambria Math" panose="02040503050406030204" pitchFamily="18" charset="0"/>
                        <a:cs typeface="Times New Roman" panose="02020603050405020304" pitchFamily="18" charset="0"/>
                      </a:rPr>
                      <m:t>𝑅𝑀𝑆𝐸</m:t>
                    </m:r>
                  </m:oMath>
                </a14:m>
                <a:r>
                  <a:rPr lang="en-US" sz="1800" dirty="0">
                    <a:latin typeface="Times New Roman" panose="02020603050405020304" pitchFamily="18" charset="0"/>
                    <a:cs typeface="Times New Roman" panose="02020603050405020304" pitchFamily="18" charset="0"/>
                  </a:rPr>
                  <a:t>). </a:t>
                </a:r>
                <a:endParaRPr sz="1800" dirty="0">
                  <a:latin typeface="Times New Roman" panose="02020603050405020304" pitchFamily="18" charset="0"/>
                  <a:cs typeface="Times New Roman" panose="02020603050405020304" pitchFamily="18" charset="0"/>
                </a:endParaRPr>
              </a:p>
            </p:txBody>
          </p:sp>
        </mc:Choice>
        <mc:Fallback>
          <p:sp>
            <p:nvSpPr>
              <p:cNvPr id="3" name="Content Placeholder 2">
                <a:extLst>
                  <a:ext uri="{FF2B5EF4-FFF2-40B4-BE49-F238E27FC236}">
                    <a16:creationId xmlns:a16="http://schemas.microsoft.com/office/drawing/2014/main" id="{9ED465DE-704F-97B1-BFED-2E53AC84EC1B}"/>
                  </a:ext>
                </a:extLst>
              </p:cNvPr>
              <p:cNvSpPr>
                <a:spLocks noGrp="1" noRot="1" noChangeAspect="1" noMove="1" noResize="1" noEditPoints="1" noAdjustHandles="1" noChangeArrowheads="1" noChangeShapeType="1" noTextEdit="1"/>
              </p:cNvSpPr>
              <p:nvPr>
                <p:ph idx="1"/>
              </p:nvPr>
            </p:nvSpPr>
            <p:spPr>
              <a:xfrm>
                <a:off x="6889898" y="1933708"/>
                <a:ext cx="2158408" cy="3880882"/>
              </a:xfrm>
              <a:blipFill>
                <a:blip r:embed="rId2"/>
                <a:stretch>
                  <a:fillRect l="-1170" t="-654"/>
                </a:stretch>
              </a:blipFill>
            </p:spPr>
            <p:txBody>
              <a:bodyPr/>
              <a:lstStyle/>
              <a:p>
                <a:r>
                  <a:rPr lang="en-US">
                    <a:noFill/>
                  </a:rPr>
                  <a:t> </a:t>
                </a:r>
              </a:p>
            </p:txBody>
          </p:sp>
        </mc:Fallback>
      </mc:AlternateContent>
      <p:pic>
        <p:nvPicPr>
          <p:cNvPr id="5" name="Picture 4" descr="A group of graphs showing the results of a stock market&#10;&#10;AI-generated content may be incorrect.">
            <a:extLst>
              <a:ext uri="{FF2B5EF4-FFF2-40B4-BE49-F238E27FC236}">
                <a16:creationId xmlns:a16="http://schemas.microsoft.com/office/drawing/2014/main" id="{048093BD-A69B-6C5B-EE27-643666DB9031}"/>
              </a:ext>
            </a:extLst>
          </p:cNvPr>
          <p:cNvPicPr>
            <a:picLocks noChangeAspect="1"/>
          </p:cNvPicPr>
          <p:nvPr/>
        </p:nvPicPr>
        <p:blipFill>
          <a:blip r:embed="rId3"/>
          <a:stretch>
            <a:fillRect/>
          </a:stretch>
        </p:blipFill>
        <p:spPr>
          <a:xfrm>
            <a:off x="0" y="1613313"/>
            <a:ext cx="6782508" cy="4521672"/>
          </a:xfrm>
          <a:prstGeom prst="rect">
            <a:avLst/>
          </a:prstGeom>
        </p:spPr>
      </p:pic>
    </p:spTree>
    <p:extLst>
      <p:ext uri="{BB962C8B-B14F-4D97-AF65-F5344CB8AC3E}">
        <p14:creationId xmlns:p14="http://schemas.microsoft.com/office/powerpoint/2010/main" val="14533844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3200" dirty="0">
                <a:latin typeface="Times New Roman" panose="02020603050405020304" pitchFamily="18" charset="0"/>
                <a:cs typeface="Times New Roman" panose="02020603050405020304" pitchFamily="18" charset="0"/>
              </a:rPr>
              <a:t>Visualizations</a:t>
            </a:r>
            <a:r>
              <a:rPr lang="en-US" sz="3200" dirty="0">
                <a:latin typeface="Times New Roman" panose="02020603050405020304" pitchFamily="18" charset="0"/>
                <a:cs typeface="Times New Roman" panose="02020603050405020304" pitchFamily="18" charset="0"/>
              </a:rPr>
              <a:t>: Comparing model performance with and without sentiment features</a:t>
            </a:r>
            <a:endParaRPr sz="32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345557" y="5178055"/>
            <a:ext cx="8452884" cy="1679945"/>
          </a:xfrm>
        </p:spPr>
        <p:txBody>
          <a:bodyPr>
            <a:normAutofit fontScale="47500" lnSpcReduction="20000"/>
          </a:bodyPr>
          <a:lstStyle/>
          <a:p>
            <a:pPr marL="0" indent="0">
              <a:buNone/>
            </a:pPr>
            <a:r>
              <a:rPr lang="en-US" b="1" dirty="0">
                <a:latin typeface="Times New Roman" panose="02020603050405020304" pitchFamily="18" charset="0"/>
                <a:cs typeface="Times New Roman" panose="02020603050405020304" pitchFamily="18" charset="0"/>
              </a:rPr>
              <a:t>Takeaway</a:t>
            </a:r>
            <a:r>
              <a:rPr lang="en-US" dirty="0">
                <a:latin typeface="Times New Roman" panose="02020603050405020304" pitchFamily="18" charset="0"/>
                <a:cs typeface="Times New Roman" panose="02020603050405020304" pitchFamily="18" charset="0"/>
              </a:rPr>
              <a:t>: Sentiment features provided small but measurable improvements in predictive accuracy for 7 out of the 9 ETFs, with the remaining 2 exhibiting small decreases in performance. </a:t>
            </a:r>
          </a:p>
          <a:p>
            <a:r>
              <a:rPr lang="en-US" dirty="0">
                <a:latin typeface="Times New Roman" panose="02020603050405020304" pitchFamily="18" charset="0"/>
                <a:cs typeface="Times New Roman" panose="02020603050405020304" pitchFamily="18" charset="0"/>
              </a:rPr>
              <a:t>Largest improvements: XLK (technology), XLY (consumer discretionary) - highly-consumer facing industries</a:t>
            </a:r>
          </a:p>
          <a:p>
            <a:r>
              <a:rPr lang="en-US" dirty="0">
                <a:latin typeface="Times New Roman" panose="02020603050405020304" pitchFamily="18" charset="0"/>
                <a:cs typeface="Times New Roman" panose="02020603050405020304" pitchFamily="18" charset="0"/>
              </a:rPr>
              <a:t>Decreased performance: XLE (energy), XLV (health care) - highly driven by government and regulation </a:t>
            </a:r>
          </a:p>
        </p:txBody>
      </p:sp>
      <p:pic>
        <p:nvPicPr>
          <p:cNvPr id="5" name="Picture 4" descr="A graph of different colored bars&#10;&#10;AI-generated content may be incorrect.">
            <a:extLst>
              <a:ext uri="{FF2B5EF4-FFF2-40B4-BE49-F238E27FC236}">
                <a16:creationId xmlns:a16="http://schemas.microsoft.com/office/drawing/2014/main" id="{CD17D36E-C98C-D5F8-23DC-FFCB96A1BF40}"/>
              </a:ext>
            </a:extLst>
          </p:cNvPr>
          <p:cNvPicPr>
            <a:picLocks noChangeAspect="1"/>
          </p:cNvPicPr>
          <p:nvPr/>
        </p:nvPicPr>
        <p:blipFill>
          <a:blip r:embed="rId2"/>
          <a:stretch>
            <a:fillRect/>
          </a:stretch>
        </p:blipFill>
        <p:spPr>
          <a:xfrm>
            <a:off x="2035869" y="1584251"/>
            <a:ext cx="5072261" cy="320660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latin typeface="Times New Roman" panose="02020603050405020304" pitchFamily="18" charset="0"/>
                <a:cs typeface="Times New Roman" panose="02020603050405020304" pitchFamily="18" charset="0"/>
              </a:rPr>
              <a:t>Insights &amp; Limitations</a:t>
            </a:r>
          </a:p>
        </p:txBody>
      </p:sp>
      <p:sp>
        <p:nvSpPr>
          <p:cNvPr id="3" name="Content Placeholder 2"/>
          <p:cNvSpPr>
            <a:spLocks noGrp="1"/>
          </p:cNvSpPr>
          <p:nvPr>
            <p:ph idx="1"/>
          </p:nvPr>
        </p:nvSpPr>
        <p:spPr/>
        <p:txBody>
          <a:bodyPr>
            <a:normAutofit fontScale="62500" lnSpcReduction="20000"/>
          </a:bodyPr>
          <a:lstStyle/>
          <a:p>
            <a:pPr marL="0" indent="0">
              <a:buNone/>
            </a:pPr>
            <a:r>
              <a:rPr lang="en-US" b="1" dirty="0">
                <a:latin typeface="Times New Roman" panose="02020603050405020304" pitchFamily="18" charset="0"/>
                <a:cs typeface="Times New Roman" panose="02020603050405020304" pitchFamily="18" charset="0"/>
              </a:rPr>
              <a:t>Insights</a:t>
            </a:r>
            <a:r>
              <a:rPr lang="en-US" dirty="0">
                <a:latin typeface="Times New Roman" panose="02020603050405020304" pitchFamily="18" charset="0"/>
                <a:cs typeface="Times New Roman" panose="02020603050405020304" pitchFamily="18" charset="0"/>
              </a:rPr>
              <a:t>: </a:t>
            </a:r>
          </a:p>
          <a:p>
            <a:pPr marL="514350" indent="-514350">
              <a:buAutoNum type="arabicParenBoth"/>
            </a:pPr>
            <a:r>
              <a:rPr lang="en-US" dirty="0">
                <a:latin typeface="Times New Roman" panose="02020603050405020304" pitchFamily="18" charset="0"/>
                <a:cs typeface="Times New Roman" panose="02020603050405020304" pitchFamily="18" charset="0"/>
              </a:rPr>
              <a:t>LSTMs can be effectively used to predict market sector ETFs while accounting for inter-sector dependency with a high degree of predictive accuracy. </a:t>
            </a:r>
          </a:p>
          <a:p>
            <a:pPr marL="514350" indent="-514350">
              <a:buAutoNum type="arabicParenBoth"/>
            </a:pPr>
            <a:r>
              <a:rPr lang="en-US" dirty="0">
                <a:latin typeface="Times New Roman" panose="02020603050405020304" pitchFamily="18" charset="0"/>
                <a:cs typeface="Times New Roman" panose="02020603050405020304" pitchFamily="18" charset="0"/>
              </a:rPr>
              <a:t>Sentiment data improves prediction in industries with consumers are the main drivers of business (technology, consumer discretionary), and less so in sectors where larger-scale change through government regulation drive market movements (energy, healthcare). </a:t>
            </a:r>
          </a:p>
          <a:p>
            <a:pPr marL="0" indent="0">
              <a:buNone/>
            </a:pPr>
            <a:r>
              <a:rPr lang="en-US" b="1" dirty="0">
                <a:latin typeface="Times New Roman" panose="02020603050405020304" pitchFamily="18" charset="0"/>
                <a:cs typeface="Times New Roman" panose="02020603050405020304" pitchFamily="18" charset="0"/>
              </a:rPr>
              <a:t>Limitations: </a:t>
            </a:r>
          </a:p>
          <a:p>
            <a:r>
              <a:rPr lang="en-US" dirty="0">
                <a:latin typeface="Times New Roman" panose="02020603050405020304" pitchFamily="18" charset="0"/>
                <a:cs typeface="Times New Roman" panose="02020603050405020304" pitchFamily="18" charset="0"/>
              </a:rPr>
              <a:t>Small amount of sentiment data limited the scope of the model. </a:t>
            </a:r>
          </a:p>
          <a:p>
            <a:r>
              <a:rPr lang="en-US" dirty="0">
                <a:latin typeface="Times New Roman" panose="02020603050405020304" pitchFamily="18" charset="0"/>
                <a:cs typeface="Times New Roman" panose="02020603050405020304" pitchFamily="18" charset="0"/>
              </a:rPr>
              <a:t>Sentiment data was aggregated across news categories → model can’t recognize different sectors’ sentiments, only overall market sentiment.  </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Given more time, I would attempt to separate the sentiment features by news-category (tech news vs. political news, etc.) to improve the model’s performance. This would require greater access to news headlines data.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127604-2610-CF56-8124-C171F8D44C7B}"/>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Conclusion</a:t>
            </a:r>
          </a:p>
        </p:txBody>
      </p:sp>
      <p:sp>
        <p:nvSpPr>
          <p:cNvPr id="3" name="Content Placeholder 2">
            <a:extLst>
              <a:ext uri="{FF2B5EF4-FFF2-40B4-BE49-F238E27FC236}">
                <a16:creationId xmlns:a16="http://schemas.microsoft.com/office/drawing/2014/main" id="{1022CC09-5016-94D7-0A30-C85514B9795F}"/>
              </a:ext>
            </a:extLst>
          </p:cNvPr>
          <p:cNvSpPr>
            <a:spLocks noGrp="1"/>
          </p:cNvSpPr>
          <p:nvPr>
            <p:ph idx="1"/>
          </p:nvPr>
        </p:nvSpPr>
        <p:spPr>
          <a:xfrm>
            <a:off x="457200" y="1600201"/>
            <a:ext cx="8229600" cy="2514600"/>
          </a:xfrm>
        </p:spPr>
        <p:txBody>
          <a:bodyPr>
            <a:normAutofit fontScale="70000" lnSpcReduction="20000"/>
          </a:bodyPr>
          <a:lstStyle/>
          <a:p>
            <a:r>
              <a:rPr lang="en-US" dirty="0">
                <a:latin typeface="Times New Roman" panose="02020603050405020304" pitchFamily="18" charset="0"/>
                <a:cs typeface="Times New Roman" panose="02020603050405020304" pitchFamily="18" charset="0"/>
              </a:rPr>
              <a:t>A multivariate LSTM predicts 9 ETF next-day prices successfully. </a:t>
            </a:r>
          </a:p>
          <a:p>
            <a:r>
              <a:rPr lang="en-US" dirty="0">
                <a:latin typeface="Times New Roman" panose="02020603050405020304" pitchFamily="18" charset="0"/>
                <a:cs typeface="Times New Roman" panose="02020603050405020304" pitchFamily="18" charset="0"/>
              </a:rPr>
              <a:t>By predicting a full set of sector prices simultaneously, it produces a </a:t>
            </a:r>
            <a:r>
              <a:rPr lang="en-US" b="1" dirty="0">
                <a:latin typeface="Times New Roman" panose="02020603050405020304" pitchFamily="18" charset="0"/>
                <a:cs typeface="Times New Roman" panose="02020603050405020304" pitchFamily="18" charset="0"/>
              </a:rPr>
              <a:t>data-driven foundation for anticipating short-term cross-market change</a:t>
            </a:r>
            <a:r>
              <a:rPr lang="en-US" dirty="0">
                <a:latin typeface="Times New Roman" panose="02020603050405020304" pitchFamily="18" charset="0"/>
                <a:cs typeface="Times New Roman" panose="02020603050405020304" pitchFamily="18" charset="0"/>
              </a:rPr>
              <a:t>. </a:t>
            </a:r>
            <a:endParaRPr lang="en-US" b="1"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Integrating news headlines reveals which markets’ future performances are more responsive to past investor sentiment. </a:t>
            </a:r>
          </a:p>
        </p:txBody>
      </p:sp>
    </p:spTree>
    <p:extLst>
      <p:ext uri="{BB962C8B-B14F-4D97-AF65-F5344CB8AC3E}">
        <p14:creationId xmlns:p14="http://schemas.microsoft.com/office/powerpoint/2010/main" val="34888124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latin typeface="Times New Roman" panose="02020603050405020304" pitchFamily="18" charset="0"/>
                <a:cs typeface="Times New Roman" panose="02020603050405020304" pitchFamily="18" charset="0"/>
              </a:rPr>
              <a:t>References</a:t>
            </a:r>
          </a:p>
        </p:txBody>
      </p:sp>
      <p:sp>
        <p:nvSpPr>
          <p:cNvPr id="3" name="Content Placeholder 2"/>
          <p:cNvSpPr>
            <a:spLocks noGrp="1"/>
          </p:cNvSpPr>
          <p:nvPr>
            <p:ph idx="1"/>
          </p:nvPr>
        </p:nvSpPr>
        <p:spPr/>
        <p:txBody>
          <a:bodyPr>
            <a:normAutofit fontScale="47500" lnSpcReduction="20000"/>
          </a:bodyPr>
          <a:lstStyle/>
          <a:p>
            <a:pPr marL="0" indent="0">
              <a:buNone/>
            </a:pPr>
            <a:endParaRPr lang="en-US" sz="1700" u="sng" dirty="0">
              <a:latin typeface="Times New Roman" panose="02020603050405020304" pitchFamily="18" charset="0"/>
              <a:cs typeface="Times New Roman" panose="02020603050405020304" pitchFamily="18" charset="0"/>
            </a:endParaRPr>
          </a:p>
          <a:p>
            <a:pPr marL="0" indent="0" algn="ctr">
              <a:buNone/>
            </a:pPr>
            <a:r>
              <a:rPr lang="en-US" dirty="0">
                <a:latin typeface="Times New Roman" panose="02020603050405020304" pitchFamily="18" charset="0"/>
                <a:cs typeface="Times New Roman" panose="02020603050405020304" pitchFamily="18" charset="0"/>
              </a:rPr>
              <a:t>Works Cited</a:t>
            </a:r>
          </a:p>
          <a:p>
            <a:pPr marL="0" indent="0">
              <a:buNone/>
            </a:pPr>
            <a:r>
              <a:rPr lang="en-US" dirty="0">
                <a:latin typeface="Times New Roman" panose="02020603050405020304" pitchFamily="18" charset="0"/>
                <a:cs typeface="Times New Roman" panose="02020603050405020304" pitchFamily="18" charset="0"/>
              </a:rPr>
              <a:t>Bollen, Johan. “Twitter Mood Predicts the Stock Market.” </a:t>
            </a:r>
            <a:r>
              <a:rPr lang="en-US" i="1" dirty="0">
                <a:latin typeface="Times New Roman" panose="02020603050405020304" pitchFamily="18" charset="0"/>
                <a:cs typeface="Times New Roman" panose="02020603050405020304" pitchFamily="18" charset="0"/>
              </a:rPr>
              <a:t>Science Direct</a:t>
            </a:r>
            <a:r>
              <a:rPr lang="en-US" dirty="0">
                <a:latin typeface="Times New Roman" panose="02020603050405020304" pitchFamily="18" charset="0"/>
                <a:cs typeface="Times New Roman" panose="02020603050405020304" pitchFamily="18" charset="0"/>
              </a:rPr>
              <a:t>, Elsevier, 2 Feb. 2011, 	https://</a:t>
            </a:r>
            <a:r>
              <a:rPr lang="en-US" dirty="0" err="1">
                <a:latin typeface="Times New Roman" panose="02020603050405020304" pitchFamily="18" charset="0"/>
                <a:cs typeface="Times New Roman" panose="02020603050405020304" pitchFamily="18" charset="0"/>
              </a:rPr>
              <a:t>www.sciencedirect.com</a:t>
            </a:r>
            <a:r>
              <a:rPr lang="en-US" dirty="0">
                <a:latin typeface="Times New Roman" panose="02020603050405020304" pitchFamily="18" charset="0"/>
                <a:cs typeface="Times New Roman" panose="02020603050405020304" pitchFamily="18" charset="0"/>
              </a:rPr>
              <a:t>/science/article/</a:t>
            </a:r>
            <a:r>
              <a:rPr lang="en-US" dirty="0" err="1">
                <a:latin typeface="Times New Roman" panose="02020603050405020304" pitchFamily="18" charset="0"/>
                <a:cs typeface="Times New Roman" panose="02020603050405020304" pitchFamily="18" charset="0"/>
              </a:rPr>
              <a:t>pii</a:t>
            </a:r>
            <a:r>
              <a:rPr lang="en-US" dirty="0">
                <a:latin typeface="Times New Roman" panose="02020603050405020304" pitchFamily="18" charset="0"/>
                <a:cs typeface="Times New Roman" panose="02020603050405020304" pitchFamily="18" charset="0"/>
              </a:rPr>
              <a:t>/S187775031100007X. </a:t>
            </a:r>
          </a:p>
          <a:p>
            <a:pPr marL="0" indent="0">
              <a:buNone/>
            </a:pPr>
            <a:r>
              <a:rPr lang="en-US" dirty="0">
                <a:latin typeface="Times New Roman" panose="02020603050405020304" pitchFamily="18" charset="0"/>
                <a:cs typeface="Times New Roman" panose="02020603050405020304" pitchFamily="18" charset="0"/>
              </a:rPr>
              <a:t>Fataliyev, </a:t>
            </a:r>
            <a:r>
              <a:rPr lang="en-US" dirty="0" err="1">
                <a:latin typeface="Times New Roman" panose="02020603050405020304" pitchFamily="18" charset="0"/>
                <a:cs typeface="Times New Roman" panose="02020603050405020304" pitchFamily="18" charset="0"/>
              </a:rPr>
              <a:t>Kamaladdin</a:t>
            </a:r>
            <a:r>
              <a:rPr lang="en-US" dirty="0">
                <a:latin typeface="Times New Roman" panose="02020603050405020304" pitchFamily="18" charset="0"/>
                <a:cs typeface="Times New Roman" panose="02020603050405020304" pitchFamily="18" charset="0"/>
              </a:rPr>
              <a:t>. “MCASP: Multi-Modal Cross Attention Network for Stock Market Prediction.” </a:t>
            </a:r>
            <a:r>
              <a:rPr lang="en-US" i="1" dirty="0">
                <a:latin typeface="Times New Roman" panose="02020603050405020304" pitchFamily="18" charset="0"/>
                <a:cs typeface="Times New Roman" panose="02020603050405020304" pitchFamily="18" charset="0"/>
              </a:rPr>
              <a:t>ACL 	Anthology</a:t>
            </a:r>
            <a:r>
              <a:rPr lang="en-US" dirty="0">
                <a:latin typeface="Times New Roman" panose="02020603050405020304" pitchFamily="18" charset="0"/>
                <a:cs typeface="Times New Roman" panose="02020603050405020304" pitchFamily="18" charset="0"/>
              </a:rPr>
              <a:t>, 1 Nov. 2023, https://</a:t>
            </a:r>
            <a:r>
              <a:rPr lang="en-US" dirty="0" err="1">
                <a:latin typeface="Times New Roman" panose="02020603050405020304" pitchFamily="18" charset="0"/>
                <a:cs typeface="Times New Roman" panose="02020603050405020304" pitchFamily="18" charset="0"/>
              </a:rPr>
              <a:t>aclanthology.org</a:t>
            </a:r>
            <a:r>
              <a:rPr lang="en-US" dirty="0">
                <a:latin typeface="Times New Roman" panose="02020603050405020304" pitchFamily="18" charset="0"/>
                <a:cs typeface="Times New Roman" panose="02020603050405020304" pitchFamily="18" charset="0"/>
              </a:rPr>
              <a:t>/2023.alta-1.7/. </a:t>
            </a:r>
          </a:p>
          <a:p>
            <a:pPr marL="0" indent="0">
              <a:buNone/>
            </a:pPr>
            <a:r>
              <a:rPr lang="en-US" dirty="0">
                <a:latin typeface="Times New Roman" panose="02020603050405020304" pitchFamily="18" charset="0"/>
                <a:cs typeface="Times New Roman" panose="02020603050405020304" pitchFamily="18" charset="0"/>
              </a:rPr>
              <a:t>Li, </a:t>
            </a:r>
            <a:r>
              <a:rPr lang="en-US" dirty="0" err="1">
                <a:latin typeface="Times New Roman" panose="02020603050405020304" pitchFamily="18" charset="0"/>
                <a:cs typeface="Times New Roman" panose="02020603050405020304" pitchFamily="18" charset="0"/>
              </a:rPr>
              <a:t>Zhenglin</a:t>
            </a:r>
            <a:r>
              <a:rPr lang="en-US" dirty="0">
                <a:latin typeface="Times New Roman" panose="02020603050405020304" pitchFamily="18" charset="0"/>
                <a:cs typeface="Times New Roman" panose="02020603050405020304" pitchFamily="18" charset="0"/>
              </a:rPr>
              <a:t>. “Stock Market Analysis and Prediction Using LSTM: A Case Study on Technology 	Stocks.” </a:t>
            </a:r>
            <a:r>
              <a:rPr lang="en-US" i="1" dirty="0">
                <a:latin typeface="Times New Roman" panose="02020603050405020304" pitchFamily="18" charset="0"/>
                <a:cs typeface="Times New Roman" panose="02020603050405020304" pitchFamily="18" charset="0"/>
              </a:rPr>
              <a:t>Global Science Publishing</a:t>
            </a:r>
            <a:r>
              <a:rPr lang="en-US" dirty="0">
                <a:latin typeface="Times New Roman" panose="02020603050405020304" pitchFamily="18" charset="0"/>
                <a:cs typeface="Times New Roman" panose="02020603050405020304" pitchFamily="18" charset="0"/>
              </a:rPr>
              <a:t>, 24 Nov. 2023,	https://</a:t>
            </a:r>
            <a:r>
              <a:rPr lang="en-US" dirty="0" err="1">
                <a:latin typeface="Times New Roman" panose="02020603050405020304" pitchFamily="18" charset="0"/>
                <a:cs typeface="Times New Roman" panose="02020603050405020304" pitchFamily="18" charset="0"/>
              </a:rPr>
              <a:t>ojs.sgsci.org</a:t>
            </a:r>
            <a:r>
              <a:rPr lang="en-US" dirty="0">
                <a:latin typeface="Times New Roman" panose="02020603050405020304" pitchFamily="18" charset="0"/>
                <a:cs typeface="Times New Roman" panose="02020603050405020304" pitchFamily="18" charset="0"/>
              </a:rPr>
              <a:t>/journals/</a:t>
            </a:r>
            <a:r>
              <a:rPr lang="en-US" dirty="0" err="1">
                <a:latin typeface="Times New Roman" panose="02020603050405020304" pitchFamily="18" charset="0"/>
                <a:cs typeface="Times New Roman" panose="02020603050405020304" pitchFamily="18" charset="0"/>
              </a:rPr>
              <a:t>iaet</a:t>
            </a:r>
            <a:r>
              <a:rPr lang="en-US" dirty="0">
                <a:latin typeface="Times New Roman" panose="02020603050405020304" pitchFamily="18" charset="0"/>
                <a:cs typeface="Times New Roman" panose="02020603050405020304" pitchFamily="18" charset="0"/>
              </a:rPr>
              <a:t>/article/view/162. </a:t>
            </a:r>
          </a:p>
          <a:p>
            <a:pPr marL="0" indent="0">
              <a:buNone/>
            </a:pPr>
            <a:r>
              <a:rPr lang="en-US" dirty="0">
                <a:latin typeface="Times New Roman" panose="02020603050405020304" pitchFamily="18" charset="0"/>
                <a:cs typeface="Times New Roman" panose="02020603050405020304" pitchFamily="18" charset="0"/>
              </a:rPr>
              <a:t>Misra, Rishabh. “News Category Dataset.” </a:t>
            </a:r>
            <a:r>
              <a:rPr lang="en-US" i="1" dirty="0">
                <a:latin typeface="Times New Roman" panose="02020603050405020304" pitchFamily="18" charset="0"/>
                <a:cs typeface="Times New Roman" panose="02020603050405020304" pitchFamily="18" charset="0"/>
              </a:rPr>
              <a:t>Kaggle</a:t>
            </a:r>
            <a:r>
              <a:rPr lang="en-US" dirty="0">
                <a:latin typeface="Times New Roman" panose="02020603050405020304" pitchFamily="18" charset="0"/>
                <a:cs typeface="Times New Roman" panose="02020603050405020304" pitchFamily="18" charset="0"/>
              </a:rPr>
              <a:t>, 24 Sept. 2022, 	</a:t>
            </a:r>
            <a:r>
              <a:rPr lang="en-US" dirty="0" err="1">
                <a:latin typeface="Times New Roman" panose="02020603050405020304" pitchFamily="18" charset="0"/>
                <a:cs typeface="Times New Roman" panose="02020603050405020304" pitchFamily="18" charset="0"/>
              </a:rPr>
              <a:t>www.kaggle.com</a:t>
            </a:r>
            <a:r>
              <a:rPr lang="en-US" dirty="0">
                <a:latin typeface="Times New Roman" panose="02020603050405020304" pitchFamily="18" charset="0"/>
                <a:cs typeface="Times New Roman" panose="02020603050405020304" pitchFamily="18" charset="0"/>
              </a:rPr>
              <a:t>/datasets/</a:t>
            </a:r>
            <a:r>
              <a:rPr lang="en-US" dirty="0" err="1">
                <a:latin typeface="Times New Roman" panose="02020603050405020304" pitchFamily="18" charset="0"/>
                <a:cs typeface="Times New Roman" panose="02020603050405020304" pitchFamily="18" charset="0"/>
              </a:rPr>
              <a:t>rmisra</a:t>
            </a:r>
            <a:r>
              <a:rPr lang="en-US" dirty="0">
                <a:latin typeface="Times New Roman" panose="02020603050405020304" pitchFamily="18" charset="0"/>
                <a:cs typeface="Times New Roman" panose="02020603050405020304" pitchFamily="18" charset="0"/>
              </a:rPr>
              <a:t>/news-category-dataset/data. </a:t>
            </a:r>
          </a:p>
          <a:p>
            <a:pPr marL="0" indent="0">
              <a:buNone/>
            </a:pPr>
            <a:r>
              <a:rPr lang="en-US" dirty="0">
                <a:latin typeface="Times New Roman" panose="02020603050405020304" pitchFamily="18" charset="0"/>
                <a:cs typeface="Times New Roman" panose="02020603050405020304" pitchFamily="18" charset="0"/>
              </a:rPr>
              <a:t>“</a:t>
            </a:r>
            <a:r>
              <a:rPr lang="en-US" dirty="0" err="1">
                <a:latin typeface="Times New Roman" panose="02020603050405020304" pitchFamily="18" charset="0"/>
                <a:cs typeface="Times New Roman" panose="02020603050405020304" pitchFamily="18" charset="0"/>
              </a:rPr>
              <a:t>Yfinance</a:t>
            </a:r>
            <a:r>
              <a:rPr lang="en-US" dirty="0">
                <a:latin typeface="Times New Roman" panose="02020603050405020304" pitchFamily="18" charset="0"/>
                <a:cs typeface="Times New Roman" panose="02020603050405020304" pitchFamily="18" charset="0"/>
              </a:rPr>
              <a:t> Python Package.” </a:t>
            </a:r>
            <a:r>
              <a:rPr lang="en-US" i="1" dirty="0" err="1">
                <a:latin typeface="Times New Roman" panose="02020603050405020304" pitchFamily="18" charset="0"/>
                <a:cs typeface="Times New Roman" panose="02020603050405020304" pitchFamily="18" charset="0"/>
              </a:rPr>
              <a:t>PyPI</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pypi.org</a:t>
            </a:r>
            <a:r>
              <a:rPr lang="en-US" dirty="0">
                <a:latin typeface="Times New Roman" panose="02020603050405020304" pitchFamily="18" charset="0"/>
                <a:cs typeface="Times New Roman" panose="02020603050405020304" pitchFamily="18" charset="0"/>
              </a:rPr>
              <a:t>/project/</a:t>
            </a:r>
            <a:r>
              <a:rPr lang="en-US" dirty="0" err="1">
                <a:latin typeface="Times New Roman" panose="02020603050405020304" pitchFamily="18" charset="0"/>
                <a:cs typeface="Times New Roman" panose="02020603050405020304" pitchFamily="18" charset="0"/>
              </a:rPr>
              <a:t>yfinance</a:t>
            </a:r>
            <a:r>
              <a:rPr lang="en-US" dirty="0">
                <a:latin typeface="Times New Roman" panose="02020603050405020304" pitchFamily="18" charset="0"/>
                <a:cs typeface="Times New Roman" panose="02020603050405020304" pitchFamily="18" charset="0"/>
              </a:rPr>
              <a:t>/. </a:t>
            </a:r>
          </a:p>
          <a:p>
            <a:pPr marL="0" indent="0">
              <a:buNone/>
            </a:pPr>
            <a:endParaRPr lang="en-US" dirty="0">
              <a:latin typeface="Times New Roman" panose="02020603050405020304" pitchFamily="18" charset="0"/>
              <a:cs typeface="Times New Roman" panose="02020603050405020304" pitchFamily="18" charset="0"/>
            </a:endParaRPr>
          </a:p>
          <a:p>
            <a:pPr marL="0" indent="0" algn="ctr">
              <a:buNone/>
            </a:pPr>
            <a:r>
              <a:rPr lang="en-US" dirty="0">
                <a:latin typeface="Times New Roman" panose="02020603050405020304" pitchFamily="18" charset="0"/>
                <a:cs typeface="Times New Roman" panose="02020603050405020304" pitchFamily="18" charset="0"/>
              </a:rPr>
              <a:t>Image Citations</a:t>
            </a:r>
          </a:p>
          <a:p>
            <a:pPr marL="0" indent="0">
              <a:buNone/>
            </a:pPr>
            <a:r>
              <a:rPr lang="en-US" dirty="0">
                <a:latin typeface="Times New Roman" panose="02020603050405020304" pitchFamily="18" charset="0"/>
                <a:cs typeface="Times New Roman" panose="02020603050405020304" pitchFamily="18" charset="0"/>
              </a:rPr>
              <a:t>Chen, James. “Exchange-Traded Fund (ETF): What It Is and How to Invest.” </a:t>
            </a:r>
            <a:r>
              <a:rPr lang="en-US" i="1" dirty="0">
                <a:latin typeface="Times New Roman" panose="02020603050405020304" pitchFamily="18" charset="0"/>
                <a:cs typeface="Times New Roman" panose="02020603050405020304" pitchFamily="18" charset="0"/>
              </a:rPr>
              <a:t>Investopedia</a:t>
            </a:r>
            <a:r>
              <a:rPr lang="en-US" dirty="0">
                <a:latin typeface="Times New Roman" panose="02020603050405020304" pitchFamily="18" charset="0"/>
                <a:cs typeface="Times New Roman" panose="02020603050405020304" pitchFamily="18" charset="0"/>
              </a:rPr>
              <a:t>, Investopedia, 	</a:t>
            </a:r>
            <a:r>
              <a:rPr lang="en-US" dirty="0" err="1">
                <a:latin typeface="Times New Roman" panose="02020603050405020304" pitchFamily="18" charset="0"/>
                <a:cs typeface="Times New Roman" panose="02020603050405020304" pitchFamily="18" charset="0"/>
              </a:rPr>
              <a:t>www.investopedia.com</a:t>
            </a:r>
            <a:r>
              <a:rPr lang="en-US" dirty="0">
                <a:latin typeface="Times New Roman" panose="02020603050405020304" pitchFamily="18" charset="0"/>
                <a:cs typeface="Times New Roman" panose="02020603050405020304" pitchFamily="18" charset="0"/>
              </a:rPr>
              <a:t>/terms/e/</a:t>
            </a:r>
            <a:r>
              <a:rPr lang="en-US" dirty="0" err="1">
                <a:latin typeface="Times New Roman" panose="02020603050405020304" pitchFamily="18" charset="0"/>
                <a:cs typeface="Times New Roman" panose="02020603050405020304" pitchFamily="18" charset="0"/>
              </a:rPr>
              <a:t>etf.asp</a:t>
            </a:r>
            <a:r>
              <a:rPr lang="en-US" dirty="0">
                <a:latin typeface="Times New Roman" panose="02020603050405020304" pitchFamily="18" charset="0"/>
                <a:cs typeface="Times New Roman" panose="02020603050405020304" pitchFamily="18" charset="0"/>
              </a:rPr>
              <a:t>. </a:t>
            </a:r>
          </a:p>
          <a:p>
            <a:pPr marL="0" indent="0">
              <a:buNone/>
            </a:pPr>
            <a:r>
              <a:rPr lang="en-US" dirty="0">
                <a:latin typeface="Times New Roman" panose="02020603050405020304" pitchFamily="18" charset="0"/>
                <a:cs typeface="Times New Roman" panose="02020603050405020304" pitchFamily="18" charset="0"/>
              </a:rPr>
              <a:t>“Huber Loss Function in Machine Learning.” </a:t>
            </a:r>
            <a:r>
              <a:rPr lang="en-US" i="1" dirty="0" err="1">
                <a:latin typeface="Times New Roman" panose="02020603050405020304" pitchFamily="18" charset="0"/>
                <a:cs typeface="Times New Roman" panose="02020603050405020304" pitchFamily="18" charset="0"/>
              </a:rPr>
              <a:t>GeeksforGeeks</a:t>
            </a:r>
            <a:r>
              <a:rPr lang="en-US" dirty="0">
                <a:latin typeface="Times New Roman" panose="02020603050405020304" pitchFamily="18" charset="0"/>
                <a:cs typeface="Times New Roman" panose="02020603050405020304" pitchFamily="18" charset="0"/>
              </a:rPr>
              <a:t>, 1 Aug. 2025, 	</a:t>
            </a:r>
            <a:r>
              <a:rPr lang="en-US" dirty="0" err="1">
                <a:latin typeface="Times New Roman" panose="02020603050405020304" pitchFamily="18" charset="0"/>
                <a:cs typeface="Times New Roman" panose="02020603050405020304" pitchFamily="18" charset="0"/>
              </a:rPr>
              <a:t>www.geeksforgeeks.org</a:t>
            </a:r>
            <a:r>
              <a:rPr lang="en-US" dirty="0">
                <a:latin typeface="Times New Roman" panose="02020603050405020304" pitchFamily="18" charset="0"/>
                <a:cs typeface="Times New Roman" panose="02020603050405020304" pitchFamily="18" charset="0"/>
              </a:rPr>
              <a:t>/machine-learning/</a:t>
            </a:r>
            <a:r>
              <a:rPr lang="en-US" dirty="0" err="1">
                <a:latin typeface="Times New Roman" panose="02020603050405020304" pitchFamily="18" charset="0"/>
                <a:cs typeface="Times New Roman" panose="02020603050405020304" pitchFamily="18" charset="0"/>
              </a:rPr>
              <a:t>huber</a:t>
            </a:r>
            <a:r>
              <a:rPr lang="en-US" dirty="0">
                <a:latin typeface="Times New Roman" panose="02020603050405020304" pitchFamily="18" charset="0"/>
                <a:cs typeface="Times New Roman" panose="02020603050405020304" pitchFamily="18" charset="0"/>
              </a:rPr>
              <a:t>-loss-function-in-machine-learning/. </a:t>
            </a:r>
            <a:endParaRPr lang="en-US" i="1" dirty="0">
              <a:latin typeface="Times New Roman" panose="02020603050405020304" pitchFamily="18" charset="0"/>
              <a:cs typeface="Times New Roman" panose="02020603050405020304" pitchFamily="18" charset="0"/>
            </a:endParaRPr>
          </a:p>
          <a:p>
            <a:pPr marL="0" indent="0">
              <a:buNone/>
            </a:pPr>
            <a:r>
              <a:rPr lang="en-US" i="1" dirty="0">
                <a:latin typeface="Times New Roman" panose="02020603050405020304" pitchFamily="18" charset="0"/>
                <a:cs typeface="Times New Roman" panose="02020603050405020304" pitchFamily="18" charset="0"/>
              </a:rPr>
              <a:t>Stack Overflow</a:t>
            </a:r>
            <a:r>
              <a:rPr lang="en-US" dirty="0">
                <a:latin typeface="Times New Roman" panose="02020603050405020304" pitchFamily="18" charset="0"/>
                <a:cs typeface="Times New Roman" panose="02020603050405020304" pitchFamily="18" charset="0"/>
              </a:rPr>
              <a:t>, https://</a:t>
            </a:r>
            <a:r>
              <a:rPr lang="en-US" dirty="0" err="1">
                <a:latin typeface="Times New Roman" panose="02020603050405020304" pitchFamily="18" charset="0"/>
                <a:cs typeface="Times New Roman" panose="02020603050405020304" pitchFamily="18" charset="0"/>
              </a:rPr>
              <a:t>stackoverflow.com</a:t>
            </a:r>
            <a:r>
              <a:rPr lang="en-US" dirty="0">
                <a:latin typeface="Times New Roman" panose="02020603050405020304" pitchFamily="18" charset="0"/>
                <a:cs typeface="Times New Roman" panose="02020603050405020304" pitchFamily="18" charset="0"/>
              </a:rPr>
              <a:t>/#organization, 27 June 2020, 	</a:t>
            </a:r>
            <a:r>
              <a:rPr lang="en-US" dirty="0" err="1">
                <a:latin typeface="Times New Roman" panose="02020603050405020304" pitchFamily="18" charset="0"/>
                <a:cs typeface="Times New Roman" panose="02020603050405020304" pitchFamily="18" charset="0"/>
              </a:rPr>
              <a:t>stackoverflow.com</a:t>
            </a:r>
            <a:r>
              <a:rPr lang="en-US" dirty="0">
                <a:latin typeface="Times New Roman" panose="02020603050405020304" pitchFamily="18" charset="0"/>
                <a:cs typeface="Times New Roman" panose="02020603050405020304" pitchFamily="18" charset="0"/>
              </a:rPr>
              <a:t>/questions/62600588/visualize-the-stacked-</a:t>
            </a:r>
            <a:r>
              <a:rPr lang="en-US" dirty="0" err="1">
                <a:latin typeface="Times New Roman" panose="02020603050405020304" pitchFamily="18" charset="0"/>
                <a:cs typeface="Times New Roman" panose="02020603050405020304" pitchFamily="18" charset="0"/>
              </a:rPr>
              <a:t>lstm</a:t>
            </a:r>
            <a:r>
              <a:rPr lang="en-US" dirty="0">
                <a:latin typeface="Times New Roman" panose="02020603050405020304" pitchFamily="18" charset="0"/>
                <a:cs typeface="Times New Roman" panose="02020603050405020304" pitchFamily="18" charset="0"/>
              </a:rPr>
              <a:t>. </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endParaRPr lang="en-US" sz="1700" u="sng"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dirty="0">
                <a:latin typeface="Times New Roman" panose="02020603050405020304" pitchFamily="18" charset="0"/>
                <a:cs typeface="Times New Roman" panose="02020603050405020304" pitchFamily="18" charset="0"/>
              </a:rPr>
              <a:t>Reflection &amp; Lessons Learned (Course-only</a:t>
            </a:r>
            <a:r>
              <a:rPr lang="en-US" dirty="0">
                <a:latin typeface="Times New Roman" panose="02020603050405020304" pitchFamily="18" charset="0"/>
                <a:cs typeface="Times New Roman" panose="02020603050405020304" pitchFamily="18" charset="0"/>
              </a:rPr>
              <a:t>, optional to present</a:t>
            </a:r>
            <a:r>
              <a:rPr dirty="0">
                <a:latin typeface="Times New Roman" panose="02020603050405020304" pitchFamily="18" charset="0"/>
                <a:cs typeface="Times New Roman" panose="02020603050405020304" pitchFamily="18" charset="0"/>
              </a:rPr>
              <a:t>)</a:t>
            </a:r>
          </a:p>
        </p:txBody>
      </p:sp>
      <p:sp>
        <p:nvSpPr>
          <p:cNvPr id="3" name="Content Placeholder 2"/>
          <p:cNvSpPr>
            <a:spLocks noGrp="1"/>
          </p:cNvSpPr>
          <p:nvPr>
            <p:ph idx="1"/>
          </p:nvPr>
        </p:nvSpPr>
        <p:spPr>
          <a:xfrm>
            <a:off x="457200" y="1600201"/>
            <a:ext cx="8229600" cy="3639312"/>
          </a:xfrm>
        </p:spPr>
        <p:txBody>
          <a:bodyPr>
            <a:normAutofit/>
          </a:bodyPr>
          <a:lstStyle/>
          <a:p>
            <a:r>
              <a:rPr dirty="0">
                <a:latin typeface="Times New Roman" panose="02020603050405020304" pitchFamily="18" charset="0"/>
                <a:cs typeface="Times New Roman" panose="02020603050405020304" pitchFamily="18" charset="0"/>
              </a:rPr>
              <a:t>What problems did you anticipate? What problems did you actually encounter?</a:t>
            </a:r>
          </a:p>
          <a:p>
            <a:r>
              <a:rPr dirty="0">
                <a:latin typeface="Times New Roman" panose="02020603050405020304" pitchFamily="18" charset="0"/>
                <a:cs typeface="Times New Roman" panose="02020603050405020304" pitchFamily="18" charset="0"/>
              </a:rPr>
              <a:t>Did your first approach work? If not, what did you change and why?</a:t>
            </a:r>
          </a:p>
          <a:p>
            <a:r>
              <a:rPr dirty="0">
                <a:latin typeface="Times New Roman" panose="02020603050405020304" pitchFamily="18" charset="0"/>
                <a:cs typeface="Times New Roman" panose="02020603050405020304" pitchFamily="18" charset="0"/>
              </a:rPr>
              <a:t>List 2–3 specific lessons you learned (about deep learning, experimentation, or teamwork).</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dirty="0">
                <a:latin typeface="Times New Roman" panose="02020603050405020304" pitchFamily="18" charset="0"/>
                <a:cs typeface="Times New Roman" panose="02020603050405020304" pitchFamily="18" charset="0"/>
              </a:rPr>
              <a:t>AI Tools and Assistance (Disclosure – Course-only</a:t>
            </a:r>
            <a:r>
              <a:rPr lang="en-US" dirty="0">
                <a:latin typeface="Times New Roman" panose="02020603050405020304" pitchFamily="18" charset="0"/>
                <a:cs typeface="Times New Roman" panose="02020603050405020304" pitchFamily="18" charset="0"/>
              </a:rPr>
              <a:t>, optional to present</a:t>
            </a:r>
            <a:r>
              <a:rPr dirty="0">
                <a:latin typeface="Times New Roman" panose="02020603050405020304" pitchFamily="18" charset="0"/>
                <a:cs typeface="Times New Roman" panose="02020603050405020304" pitchFamily="18" charset="0"/>
              </a:rPr>
              <a:t>)</a:t>
            </a:r>
          </a:p>
        </p:txBody>
      </p:sp>
      <p:sp>
        <p:nvSpPr>
          <p:cNvPr id="3" name="Content Placeholder 2"/>
          <p:cNvSpPr>
            <a:spLocks noGrp="1"/>
          </p:cNvSpPr>
          <p:nvPr>
            <p:ph idx="1"/>
          </p:nvPr>
        </p:nvSpPr>
        <p:spPr/>
        <p:txBody>
          <a:bodyPr>
            <a:normAutofit fontScale="92500" lnSpcReduction="10000"/>
          </a:bodyPr>
          <a:lstStyle/>
          <a:p>
            <a:pPr marL="0" indent="0">
              <a:buNone/>
            </a:pPr>
            <a:endParaRPr lang="en-US" dirty="0">
              <a:latin typeface="Times New Roman" panose="02020603050405020304" pitchFamily="18" charset="0"/>
              <a:cs typeface="Times New Roman" panose="02020603050405020304" pitchFamily="18" charset="0"/>
            </a:endParaRPr>
          </a:p>
          <a:p>
            <a:pPr marL="0" indent="0">
              <a:buNone/>
            </a:pPr>
            <a:r>
              <a:rPr lang="en-US" dirty="0">
                <a:latin typeface="Times New Roman" panose="02020603050405020304" pitchFamily="18" charset="0"/>
                <a:cs typeface="Times New Roman" panose="02020603050405020304" pitchFamily="18" charset="0"/>
              </a:rPr>
              <a:t>I used ChatGPT to help me learn specific dynamics of the LSTM model, deepening my understanding of how the model works and allowing me to better apply it to this project.  Specifically, I was unsure how I could achieve an LSTM model that outputs 9 distinct outputs, so I used ChatGPT to understand the model architecture. I verified the AI-generated output by referring to the course textbook in addition. </a:t>
            </a:r>
          </a:p>
          <a:p>
            <a:pPr marL="0" indent="0">
              <a:buNone/>
            </a:pPr>
            <a:endParaRPr lang="en-US"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3200" dirty="0">
                <a:latin typeface="Times New Roman" panose="02020603050405020304" pitchFamily="18" charset="0"/>
                <a:cs typeface="Times New Roman" panose="02020603050405020304" pitchFamily="18" charset="0"/>
              </a:rPr>
              <a:t>Appendix</a:t>
            </a:r>
            <a:r>
              <a:rPr lang="en-US" sz="3200" dirty="0">
                <a:latin typeface="Times New Roman" panose="02020603050405020304" pitchFamily="18" charset="0"/>
                <a:cs typeface="Times New Roman" panose="02020603050405020304" pitchFamily="18" charset="0"/>
              </a:rPr>
              <a:t>: Attempted Attention Layer Model</a:t>
            </a:r>
            <a:endParaRPr sz="32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457200" y="1600201"/>
            <a:ext cx="8229600" cy="1828800"/>
          </a:xfrm>
        </p:spPr>
        <p:txBody>
          <a:bodyPr>
            <a:normAutofit/>
          </a:bodyPr>
          <a:lstStyle/>
          <a:p>
            <a:pPr marL="0" indent="0">
              <a:buNone/>
            </a:pPr>
            <a:r>
              <a:rPr lang="en-US" sz="1800" dirty="0">
                <a:latin typeface="Times New Roman" panose="02020603050405020304" pitchFamily="18" charset="0"/>
                <a:cs typeface="Times New Roman" panose="02020603050405020304" pitchFamily="18" charset="0"/>
              </a:rPr>
              <a:t>One approach I attempted was to include a multi-head attention layer between the LSTM layers and the dense layers. Attention allows the model to weigh the impact of different parts of the input sequences on the response. This ideally would have allowed for more in-depth modeling of inter-sector dependencies by furthering the model’s ability to weigh different sectors’ impacts upon the others. </a:t>
            </a:r>
          </a:p>
          <a:p>
            <a:pPr marL="0" indent="0">
              <a:buNone/>
            </a:pPr>
            <a:r>
              <a:rPr lang="en-US" sz="1800" dirty="0">
                <a:latin typeface="Times New Roman" panose="02020603050405020304" pitchFamily="18" charset="0"/>
                <a:cs typeface="Times New Roman" panose="02020603050405020304" pitchFamily="18" charset="0"/>
              </a:rPr>
              <a:t>When fitting this model, the following training curve was produced. </a:t>
            </a:r>
          </a:p>
        </p:txBody>
      </p:sp>
      <p:pic>
        <p:nvPicPr>
          <p:cNvPr id="6" name="Picture 5" descr="A graph with lines and numbers&#10;&#10;AI-generated content may be incorrect.">
            <a:extLst>
              <a:ext uri="{FF2B5EF4-FFF2-40B4-BE49-F238E27FC236}">
                <a16:creationId xmlns:a16="http://schemas.microsoft.com/office/drawing/2014/main" id="{3E5C0B81-3A13-0000-412C-597089098F98}"/>
              </a:ext>
            </a:extLst>
          </p:cNvPr>
          <p:cNvPicPr>
            <a:picLocks noChangeAspect="1"/>
          </p:cNvPicPr>
          <p:nvPr/>
        </p:nvPicPr>
        <p:blipFill>
          <a:blip r:embed="rId2"/>
          <a:srcRect l="4779" r="46187"/>
          <a:stretch>
            <a:fillRect/>
          </a:stretch>
        </p:blipFill>
        <p:spPr>
          <a:xfrm>
            <a:off x="323230" y="3333307"/>
            <a:ext cx="3749040" cy="3108960"/>
          </a:xfrm>
          <a:prstGeom prst="rect">
            <a:avLst/>
          </a:prstGeom>
        </p:spPr>
      </p:pic>
      <p:sp>
        <p:nvSpPr>
          <p:cNvPr id="7" name="Content Placeholder 2">
            <a:extLst>
              <a:ext uri="{FF2B5EF4-FFF2-40B4-BE49-F238E27FC236}">
                <a16:creationId xmlns:a16="http://schemas.microsoft.com/office/drawing/2014/main" id="{304EBE08-7E62-01C9-7F9D-166B0A3AAFC7}"/>
              </a:ext>
            </a:extLst>
          </p:cNvPr>
          <p:cNvSpPr txBox="1">
            <a:spLocks/>
          </p:cNvSpPr>
          <p:nvPr/>
        </p:nvSpPr>
        <p:spPr>
          <a:xfrm>
            <a:off x="3721395" y="3650586"/>
            <a:ext cx="4965405" cy="2926397"/>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Font typeface="Arial"/>
              <a:buNone/>
            </a:pPr>
            <a:r>
              <a:rPr lang="en-US" sz="1800" dirty="0">
                <a:latin typeface="Times New Roman" panose="02020603050405020304" pitchFamily="18" charset="0"/>
                <a:cs typeface="Times New Roman" panose="02020603050405020304" pitchFamily="18" charset="0"/>
              </a:rPr>
              <a:t>The model with the attention layer greatly overfit the data, even with immense regularization. This is likely due to the extreme increase in model complexity as an effect of the attention layer. The increased number of weights may have made it easy for the model to learn noise, as the training loss consistently decreased while the validation loss plateaued early into training.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1245</TotalTime>
  <Words>1972</Words>
  <Application>Microsoft Macintosh PowerPoint</Application>
  <PresentationFormat>On-screen Show (4:3)</PresentationFormat>
  <Paragraphs>155</Paragraphs>
  <Slides>19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19</vt:i4>
      </vt:variant>
    </vt:vector>
  </HeadingPairs>
  <TitlesOfParts>
    <vt:vector size="25" baseType="lpstr">
      <vt:lpstr>Arial</vt:lpstr>
      <vt:lpstr>Calibri</vt:lpstr>
      <vt:lpstr>Cambria Math</vt:lpstr>
      <vt:lpstr>Times New Roman</vt:lpstr>
      <vt:lpstr>Wingdings</vt:lpstr>
      <vt:lpstr>Office Theme</vt:lpstr>
      <vt:lpstr>Predicting Market Sector ETF Prices with a Sequential Neural Network</vt:lpstr>
      <vt:lpstr>Background</vt:lpstr>
      <vt:lpstr>Technical Motivation</vt:lpstr>
      <vt:lpstr>Technical Motivation, cont.</vt:lpstr>
      <vt:lpstr>Market Sector ETFs </vt:lpstr>
      <vt:lpstr>Dataset Overview</vt:lpstr>
      <vt:lpstr>Approach Overview</vt:lpstr>
      <vt:lpstr>Model Architecture &amp; Design Choices</vt:lpstr>
      <vt:lpstr>Experimental Setup</vt:lpstr>
      <vt:lpstr>Key Results</vt:lpstr>
      <vt:lpstr>Visualizations: Training Curve</vt:lpstr>
      <vt:lpstr>Visualizations: Test Period Predictions</vt:lpstr>
      <vt:lpstr>Visualizations: Comparing model performance with and without sentiment features</vt:lpstr>
      <vt:lpstr>Insights &amp; Limitations</vt:lpstr>
      <vt:lpstr>Conclusion</vt:lpstr>
      <vt:lpstr>References</vt:lpstr>
      <vt:lpstr>Reflection &amp; Lessons Learned (Course-only, optional to present)</vt:lpstr>
      <vt:lpstr>AI Tools and Assistance (Disclosure – Course-only, optional to present)</vt:lpstr>
      <vt:lpstr>Appendix: Attempted Attention Layer Model</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Hayden Philip Sterling</cp:lastModifiedBy>
  <cp:revision>11</cp:revision>
  <dcterms:created xsi:type="dcterms:W3CDTF">2013-01-27T09:14:16Z</dcterms:created>
  <dcterms:modified xsi:type="dcterms:W3CDTF">2025-12-08T19:12:16Z</dcterms:modified>
  <cp:category/>
</cp:coreProperties>
</file>